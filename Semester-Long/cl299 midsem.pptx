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6" r:id="rId4"/>
  </p:sldMasterIdLst>
  <p:notesMasterIdLst>
    <p:notesMasterId r:id="rId21"/>
  </p:notesMasterIdLst>
  <p:handoutMasterIdLst>
    <p:handoutMasterId r:id="rId22"/>
  </p:handoutMasterIdLst>
  <p:sldIdLst>
    <p:sldId id="318" r:id="rId5"/>
    <p:sldId id="263" r:id="rId6"/>
    <p:sldId id="284" r:id="rId7"/>
    <p:sldId id="267" r:id="rId8"/>
    <p:sldId id="268" r:id="rId9"/>
    <p:sldId id="289" r:id="rId10"/>
    <p:sldId id="269" r:id="rId11"/>
    <p:sldId id="271" r:id="rId12"/>
    <p:sldId id="287" r:id="rId13"/>
    <p:sldId id="290" r:id="rId14"/>
    <p:sldId id="306" r:id="rId15"/>
    <p:sldId id="274" r:id="rId16"/>
    <p:sldId id="275" r:id="rId17"/>
    <p:sldId id="316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8E18A-1D1B-BCE6-060D-6F2A92A42DB8}" v="16" dt="2026-02-14T12:44:22.934"/>
    <p1510:client id="{288EBEFC-D236-0BDE-C01A-0342E1103B49}" v="970" dt="2026-02-13T18:30:52.906"/>
    <p1510:client id="{31D54905-BE2D-5927-D4ED-C711918D6AAD}" v="1350" dt="2026-02-14T11:44:38.871"/>
    <p1510:client id="{356C06C2-7B45-45B9-94F8-B36FB74D6CE7}" v="1612" dt="2026-02-14T11:38:09.817"/>
    <p1510:client id="{38C5601B-A8FB-B00A-8DF0-E782DB235519}" v="59" dt="2026-02-14T05:54:22.988"/>
    <p1510:client id="{A53FB7D7-C729-EB8E-0FEC-C06EEAAD5DE9}" v="323" dt="2026-02-13T18:31:27.251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E2EAC-3C91-4B52-8C4B-9C0E9F6A8187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AB1AC4-76D1-7B1B-5CC4-D2FCC399FBB0}"/>
              </a:ext>
            </a:extLst>
          </p:cNvPr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C571487-9EEE-D53C-DB15-3E94DAA5B355}"/>
                </a:ext>
              </a:extLst>
            </p:cNvPr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B52BDB9-0295-838E-0E0C-92D67A2F8F37}"/>
                </a:ext>
              </a:extLst>
            </p:cNvPr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CDEA911-EE23-876A-33CF-D9B49F909F59}"/>
                </a:ext>
              </a:extLst>
            </p:cNvPr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E03CBC6-0533-77FC-84A4-018FDF1C485E}"/>
                </a:ext>
              </a:extLst>
            </p:cNvPr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DF984DA-739D-C580-88FE-37BC71CC048F}"/>
                </a:ext>
              </a:extLst>
            </p:cNvPr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86D3D71-BBA8-D759-822B-2FBCB7953EF0}"/>
                </a:ext>
              </a:extLst>
            </p:cNvPr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A11A07E-80BF-F394-FB51-3B6B9B3C3670}"/>
                </a:ext>
              </a:extLst>
            </p:cNvPr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DE089EB-0005-F163-33EB-4F8A8A7E3955}"/>
                </a:ext>
              </a:extLst>
            </p:cNvPr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82C199C-BAD8-AEAE-F54A-21ECDF11CEA1}"/>
                </a:ext>
              </a:extLst>
            </p:cNvPr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E9F48F3-7F7E-EF11-E5F0-BA7F465B29D3}"/>
                </a:ext>
              </a:extLst>
            </p:cNvPr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2160BF7-9249-3ACC-D1EC-B7BD3252B2E8}"/>
                </a:ext>
              </a:extLst>
            </p:cNvPr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E50A8CD-31C6-4DD6-CA82-64281DDCDE51}"/>
                </a:ext>
              </a:extLst>
            </p:cNvPr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1B6F004-7AF9-6E9F-A218-3B98628DBD32}"/>
                </a:ext>
              </a:extLst>
            </p:cNvPr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32DFB0C-630B-E5FE-525E-2A84C0249C91}"/>
                </a:ext>
              </a:extLst>
            </p:cNvPr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97CAEE4-8D64-C104-44D7-DDFEA27D1488}"/>
                </a:ext>
              </a:extLst>
            </p:cNvPr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0EF1600-1FBA-3BCB-B6E0-31E5EE49E310}"/>
                </a:ext>
              </a:extLst>
            </p:cNvPr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8DA94B7-54D0-0E78-D590-D1DC8090E3E3}"/>
                </a:ext>
              </a:extLst>
            </p:cNvPr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2AADC4C-63BB-2981-E6CD-75DCFC36599F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C8141BB-40BB-2F54-C20C-BC143F116CF4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4E6B0C8C-150B-6946-95C0-C1CCB74EC50D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C612477-97FB-62A0-EA48-F7716B113513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64BC7E3-A824-02E2-A1FF-E439E652A936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A8CA45F2-AF5F-7913-F7C1-A1A15583F2AD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BE944392-E8FB-A1DE-F8D6-801D6CA8F575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207ACA8A-DFD6-228E-FEF0-C9628F7CDABB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84250EAD-7A2F-5E42-4155-F1BEE159B3AC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234B91CF-085B-BE5E-CA20-A60E87BDD360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D78826D7-394F-99F8-30DB-7D4B8627115D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DAFE95AA-95F3-1CD4-2E5A-BFAD88F592A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5E13629E-7111-5C60-728B-418F10ABF2F5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0036623-7836-CB1B-5E04-D34BF762AE66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BDFB9EB-3AAB-A0F9-96A6-565EA8EDB9E1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BA3C8575-2613-54DD-1652-DBCC218021E3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9D1A0AD-8794-B559-1153-F6D23AB90FB1}"/>
                </a:ext>
              </a:extLst>
            </p:cNvPr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09386A1-2C0A-D814-006D-8C002F373398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2B54CC7-045E-3134-5057-D720F9AB853D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2280BB4-3467-F684-740B-3190521914D1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8450B54-04C0-F48E-6901-381058BADFA3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FA16D0D2-6188-E602-9C0A-E1AA73083F8F}"/>
                  </a:ext>
                </a:extLst>
              </p:cNvPr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974EC521-75B2-C627-B618-B2A0C2F2F5CA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32560B11-76A1-F453-1FA7-ABFDA61DB7EE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F789B5B5-7700-8EEC-1CF3-F0296EFBD85A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BE675537-E841-37C9-4F46-C9BF5A29DEF2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CBDB21EB-D730-856A-7032-A14580E3FC55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3A31D2EC-5859-EBEC-8A51-A9B358A4FF9D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4867732-BB2E-70E3-458D-B282D10207FC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405F2C3-02C8-6B39-4194-46060DB7BF90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F7ED205-954B-99DC-507B-ABCCCE6D3EC2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73F59323-48E9-F17E-941D-0F175ECE3E42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6AD48DA-8724-8143-FE33-2B0AEBE8DCF2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5BF6472-DE19-92C1-FECA-476B15D46353}"/>
              </a:ext>
            </a:extLst>
          </p:cNvPr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250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6C620-8778-4A82-B019-63A6C2EA67E9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DA9E2-6923-4776-A45A-EC7CDC965CEB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2F99757-C4DA-167E-9DE2-2A6617A15AA5}"/>
              </a:ext>
            </a:extLst>
          </p:cNvPr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64ABD0B-42D9-F6D7-C440-4BFEF136F384}"/>
                </a:ext>
              </a:extLst>
            </p:cNvPr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E7EA83D-7104-144C-A40E-2201B86F82E2}"/>
                </a:ext>
              </a:extLst>
            </p:cNvPr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01D2F14-BF07-9E62-8056-E54249575412}"/>
                </a:ext>
              </a:extLst>
            </p:cNvPr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08D3BF8-C670-1AB4-DFB1-0208866B8E8F}"/>
                </a:ext>
              </a:extLst>
            </p:cNvPr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99664C4-0ADB-48E4-8810-4510A7901371}"/>
                </a:ext>
              </a:extLst>
            </p:cNvPr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58AE7A8-7ECD-E601-012E-BB7E689A06FE}"/>
                </a:ext>
              </a:extLst>
            </p:cNvPr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CC75A53-AC7E-5027-B133-78300C53D1CE}"/>
                </a:ext>
              </a:extLst>
            </p:cNvPr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E487F2F-450F-DFD9-990B-D3C999B820D4}"/>
                </a:ext>
              </a:extLst>
            </p:cNvPr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5418E81-DBC8-19EF-6779-5BAABFA5B678}"/>
                </a:ext>
              </a:extLst>
            </p:cNvPr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443B40D-8CB7-F760-7B32-FB38C721DCD4}"/>
                </a:ext>
              </a:extLst>
            </p:cNvPr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8E4637B-3467-D5AE-0E63-605C5C14AB83}"/>
                </a:ext>
              </a:extLst>
            </p:cNvPr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92E28E5-8E81-51D1-4822-35887F425289}"/>
                </a:ext>
              </a:extLst>
            </p:cNvPr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9AD61C0-2718-2D59-6F10-FDC52299A045}"/>
                </a:ext>
              </a:extLst>
            </p:cNvPr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A7649C2-FDAA-E98C-874E-625CA4422DE5}"/>
                </a:ext>
              </a:extLst>
            </p:cNvPr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7D6471-15ED-A432-DEEA-F53472B659CA}"/>
                </a:ext>
              </a:extLst>
            </p:cNvPr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BA65FB5-B45D-E10E-1731-C307973A4373}"/>
                </a:ext>
              </a:extLst>
            </p:cNvPr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79B4BE5-6F42-678E-2A96-7694B733DB4E}"/>
                </a:ext>
              </a:extLst>
            </p:cNvPr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48F1C06-8731-BC62-BE69-47B5EB365BD6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B9F8728-3327-1D29-3634-C34D940EFB3A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58FF0B6-31CC-5F5D-3B29-066FF55FA7E4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412A63A-6C81-272A-716E-9049E506FDFA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D83D6F3D-EC91-F21B-3196-04F228A8E3CB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6D462AF1-A581-D25E-18A0-A387C624400F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78F50430-8ABB-9E8D-34FB-26024FACF25E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4C74EF8F-4002-8109-C705-529328A01572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8B365245-F875-A48C-51BC-4E3D9C478D5F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CF0ACD95-C3E2-3679-FA82-D6E4D59407BA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6744C7B2-F135-E683-D4B2-35AA39AA3980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A459F241-90D5-53E8-23B4-5AC6A975D21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BA9A0E9-F040-01EB-C9D3-2AB40B23F97D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4FE6F775-80A1-7F35-9769-735B84B26E56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E978F142-7D57-B3EB-FF6B-92A512F05E2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ABFFE812-0C07-819A-5A12-8FF6D93999F1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DB5A15A-1926-1EB3-80E1-2CCC236803BE}"/>
                </a:ext>
              </a:extLst>
            </p:cNvPr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E1E7383C-1089-9C04-BFAB-98CB10D8344D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BF421BD7-A3E9-9168-8377-DD41E59876C6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717B210-D41E-2809-C289-FCB9B0C5133A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6C5A59B-40C5-F96F-3645-FAA2798D8F80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CE851E4-8A69-4ABA-AF16-9AE3DD9383F5}"/>
                  </a:ext>
                </a:extLst>
              </p:cNvPr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86132FD-0449-DACC-0CFD-302AB259EAEB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8A9F3BB7-7949-3F89-4784-7B8758333C19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358A2CC-1244-C132-308B-CAFE92F3E19D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34C99090-4B91-0F2F-13B0-1154BB5D1187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D7F8463-8100-4C4B-65E8-263B8130763C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950100D9-6BC7-7935-AA20-A0405E10903A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34F1835-2F2E-992C-1ED8-66D74D760391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DDF5441-98FC-7DEB-5793-13106D023A0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AFF007A-37ED-A1E1-12FC-890810A166C3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36BD2A0-4152-0AC7-D087-2B0BACB373E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D997C6D-E001-6314-597C-5E9C5CA5FF5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F40DE6A-3EEF-95C5-7571-1116096DE5DD}"/>
              </a:ext>
            </a:extLst>
          </p:cNvPr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49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CC3A-A5B7-4F83-8615-2C0360121C08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3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D375-766C-4889-AD54-03DF3AD2E1F0}" type="datetime1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5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BA06-C4B4-4DCE-8F87-D1A294647C1E}" type="datetime1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1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BB63-61D9-406B-85F7-1C77997344EC}" type="datetime1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4E86B8-7FAC-3C71-1499-D7D13C74F3C8}"/>
              </a:ext>
            </a:extLst>
          </p:cNvPr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508544E-578E-4077-2274-0EF8D0BF8068}"/>
                </a:ext>
              </a:extLst>
            </p:cNvPr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61A5DC5-B975-ABB3-F9A6-D6D9465F50F1}"/>
                </a:ext>
              </a:extLst>
            </p:cNvPr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1B36D26-3ADC-84BB-6F49-0FD81C214AEE}"/>
                </a:ext>
              </a:extLst>
            </p:cNvPr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2B1DAF-E94F-ADF8-3942-C31C3710350E}"/>
                </a:ext>
              </a:extLst>
            </p:cNvPr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E9EBB7F-4BD9-29E5-0ADF-94A370A0FA09}"/>
                </a:ext>
              </a:extLst>
            </p:cNvPr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095A110-99B5-FC8D-CE7F-06596773DC06}"/>
                </a:ext>
              </a:extLst>
            </p:cNvPr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54A2FCF-2FC6-3155-33C3-306345C08933}"/>
                </a:ext>
              </a:extLst>
            </p:cNvPr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9495C49-8051-993A-FDBC-2747CA0C442A}"/>
                </a:ext>
              </a:extLst>
            </p:cNvPr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6EC3A27-281B-8834-C609-D3A8FEDC33B6}"/>
                </a:ext>
              </a:extLst>
            </p:cNvPr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401B79-BC8D-A563-EF62-492BB7C1CF2B}"/>
                </a:ext>
              </a:extLst>
            </p:cNvPr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DA7ED4-6DCF-4DFF-2299-6CD51B81ED70}"/>
                </a:ext>
              </a:extLst>
            </p:cNvPr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0336ABA-0BE6-883E-F664-6D9F8C428A28}"/>
                </a:ext>
              </a:extLst>
            </p:cNvPr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22AD67D-71DC-B393-6264-F949DA1A8C90}"/>
                </a:ext>
              </a:extLst>
            </p:cNvPr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3A8CF44-78CF-FB6F-6706-E82E3E4AC97F}"/>
                </a:ext>
              </a:extLst>
            </p:cNvPr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EBD83CA-3097-F845-B39F-4701492CC0A1}"/>
                </a:ext>
              </a:extLst>
            </p:cNvPr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3C9CF57-22BB-AFDA-CBC0-1889F805FB57}"/>
                </a:ext>
              </a:extLst>
            </p:cNvPr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920560D-5F5C-7EAE-F745-756458CB1BB8}"/>
                </a:ext>
              </a:extLst>
            </p:cNvPr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0976826D-EDCA-C727-04FC-43F208133566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B48C600-613C-1896-DF17-163BD06E0F8E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7EA407C-9EB8-64D3-DF2F-6F06A28AD85B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222C99B-F091-1377-E159-5AE895D63ADF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7E41E6C-B482-6062-BC87-E315EE2AA356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FE09400-A1A2-72F8-FB19-246F5473F7CE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A0D6FB8B-17EC-5175-4BBC-2AB113E382BA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7F7E2A66-DDBC-9BED-0B00-F2ED6BFC0FD5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7C22C29F-CC87-8EFE-4906-D7B423C3E2F2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4EDE7BEE-E775-E8AF-0B89-65951B60D058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53543673-5CB3-EEBB-20DA-096AB16F4726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790D6F4-FB2E-EDA2-4635-1575E5CB95C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EDCA5A6-C325-C7A7-2A3E-7F430DFB9FFF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DFFD3C5-9313-865B-57A0-4FE5D5CE63BB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9C1C1FEE-5B76-BBB1-8CB0-E046630CB98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5698DC06-5EB9-5A0C-8CC6-FBC8EB476EC4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236F07F-1F6A-0BF1-F7C6-5AE661E12F5D}"/>
                </a:ext>
              </a:extLst>
            </p:cNvPr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3F2167C-099D-FBF5-55DA-5D8867824D1A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071CA6C-B6F7-B3B7-3E50-3074331BDF33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2229F7D9-7B81-776A-5F5E-756D086721DD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60EE931-3B23-C9BF-7A3B-DF6748462781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D07286FE-CCA8-0AE6-DC0C-3CF2F39C554B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9A3A4F5-EBD0-93ED-F726-EFA105063EB4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D5E3F603-9A99-D944-8C36-575EDF5A26E4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60BB8B43-8DC4-0792-C69B-D10A8B9328C6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0625F10F-7FB1-1491-8C6A-BAAF384D1E64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157C0566-460F-01F6-F2F5-F38CD761235F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F767E119-9882-035F-6564-BCCA49B0B1E4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F439D8C-EBAB-2277-7B6E-16E717BE364B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AC78B84E-4AEA-6E07-A967-AA48CA79FFA1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EB7CE8D-F4C4-1E02-436E-280FD529A60F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F3D0E8F-D21C-8514-13E7-4B8C7C8E2813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27B5240-F540-4723-94FE-F0D62173775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3407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102E-C1A4-4B8A-AC45-4AF5A0B71DE7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987CF09-266F-060A-CCC6-61F8E519C1AF}"/>
              </a:ext>
            </a:extLst>
          </p:cNvPr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303868-ED42-3D83-6E53-F8218CEAEF5E}"/>
                </a:ext>
              </a:extLst>
            </p:cNvPr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AE459E-890F-7755-A0E9-D5EA128A25C4}"/>
                </a:ext>
              </a:extLst>
            </p:cNvPr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5603937-2FA2-0024-BFEC-BFBD8CF28DB9}"/>
                </a:ext>
              </a:extLst>
            </p:cNvPr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E17C5A-059B-B957-5B19-61A310F37526}"/>
                </a:ext>
              </a:extLst>
            </p:cNvPr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D4C581C-F830-F52D-61FD-5F81A981188B}"/>
                </a:ext>
              </a:extLst>
            </p:cNvPr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172704-28DA-49A2-85F2-DD606F17713B}"/>
                </a:ext>
              </a:extLst>
            </p:cNvPr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5851D6-4013-2963-D3D6-DCA22CC578AC}"/>
                </a:ext>
              </a:extLst>
            </p:cNvPr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E67C0CD-D38B-3C31-A3D8-F30296B75642}"/>
                </a:ext>
              </a:extLst>
            </p:cNvPr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D2D22EE-B334-1176-5470-CDA877C8C0DE}"/>
                </a:ext>
              </a:extLst>
            </p:cNvPr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76C2893-9C94-A556-25A1-4566216FE31B}"/>
                </a:ext>
              </a:extLst>
            </p:cNvPr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D9CB74B-F556-305E-C81D-C024A323DAE6}"/>
                </a:ext>
              </a:extLst>
            </p:cNvPr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C07E859-D793-C2BF-A4B4-B306D50DD056}"/>
                </a:ext>
              </a:extLst>
            </p:cNvPr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C1157CA-094D-8918-394C-21847E30F50F}"/>
                </a:ext>
              </a:extLst>
            </p:cNvPr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A5850B4-95F7-1B02-52B8-017B8983C5C7}"/>
                </a:ext>
              </a:extLst>
            </p:cNvPr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4DBC8C7-5E09-701D-7122-D70E5F62435B}"/>
                </a:ext>
              </a:extLst>
            </p:cNvPr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D55F63-A673-5123-7502-D30B0FE652F8}"/>
                </a:ext>
              </a:extLst>
            </p:cNvPr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9BAC5EB-E13E-E2FD-8933-CC0EF06EC09A}"/>
                </a:ext>
              </a:extLst>
            </p:cNvPr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C390E2A-BCA6-9A67-F24D-A678693AA7C7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77B093A-DC2D-3CB1-9C63-2657CF0C8E02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98AAC72-0A20-29C5-ADA6-4991EF605F1D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A33AE86F-A254-88BD-7A85-54C8D986130B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D9A638C0-E1A1-53A0-A13F-307C81D5D1CE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8AB04E80-87EE-8197-CB46-1477DF2D06D2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B3152F53-3444-4BAC-5BB0-261FF98EF9AC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6BF1217F-D5AE-8C27-43E7-E019A1150781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52BBE28F-AAB6-D20E-A70D-C9B1D5E058F8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526C22F8-0464-B2C0-6FFE-64C5A33F8088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CFD0FB75-6E9F-9FCB-6231-2CD934DC3447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E4AB30CE-67F0-5F72-574E-ED020ECB89F3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A99571A-64D6-D946-D47D-A8A9CDEAE590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B4FBC1FB-DEF7-4F1B-56AC-CD7E431F9C25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ACD4B98-0569-6F40-9445-18B09E9E24F6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F35CBE91-4456-F94A-FF36-749DF172B45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BC7A583-B8D2-FFD7-DBF1-A6F70799A581}"/>
                </a:ext>
              </a:extLst>
            </p:cNvPr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BB3B864-5D95-C4D5-DC03-F0F81CC62C61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4C15D96F-6E25-E97C-C9F3-8A0A68F10D00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E1C5EDE-454B-8E7A-036D-A97541E51904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CBD54CC-B083-7FEF-AEAE-F2DC87664A79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7CA0CA2-21D1-5D78-C5CD-6E82FC0568FB}"/>
                  </a:ext>
                </a:extLst>
              </p:cNvPr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F0D9B5F-A74E-E419-7C47-EDAACDF33787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4B8DE283-9720-1024-F2A3-6CD1E352061A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06A4374A-77F7-D060-4C4B-44FAEB2EADC0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A89FD49E-FB5B-B6C7-BA6C-45E3F5070392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4297CBD-CD3E-31DE-6DBE-A2D2AFF1E09C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47A33831-2055-6EC2-7061-92D499C3E78E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F44B7E69-02E7-7C54-4D05-8E364381D6C6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67A96BE-C07E-66EB-D9A8-9B61568694E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6F21175-2C83-ED31-6BE7-D5E0D7B16BC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EBC1773-3F62-547C-3F29-36F15DA96B7D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1E94E0A-78AA-8F49-5BD1-77A08DEC86DF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A2974AF3-C617-46A2-C38A-CB6EEBD5EB84}"/>
              </a:ext>
            </a:extLst>
          </p:cNvPr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BC108BF-8C58-65E9-1384-10BE86E1D6B0}"/>
              </a:ext>
            </a:extLst>
          </p:cNvPr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93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1DD35-051B-422E-8A69-9E035E1E7CE2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7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9BA4-A30A-42AB-A8F2-5C1BF48279DF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92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E33AD-856E-46B6-94AD-6F19BA0D8BD4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6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9A5F-9D09-428B-A150-EFEA93505203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11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A481-BC2E-4B94-848E-B3BAD3EB2609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5AE0-8C2C-41A9-9603-57EEB1F86888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33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A9B9-7BA3-44B2-AC0D-CB2B9CC3F666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82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71C4A-45A5-40DC-93DC-3676C37E3C4B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7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AFD3-8EAF-4F62-AC9B-554C3FBE0384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4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EE61DE0-1197-4146-9D96-95F63D7A3673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A6826AA-F9E1-23FB-CB26-DD7906C4E0EB}"/>
              </a:ext>
            </a:extLst>
          </p:cNvPr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2A99F0C-41E0-6E1E-1BB3-DA813CC2B89A}"/>
                </a:ext>
              </a:extLst>
            </p:cNvPr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4E1F859-8EDD-99CC-400E-3153B4F3DBD1}"/>
                </a:ext>
              </a:extLst>
            </p:cNvPr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1A31063-D7CA-A214-0493-DE8AD314D17C}"/>
                </a:ext>
              </a:extLst>
            </p:cNvPr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EBEE5B9-A9D6-984C-CD9D-A51F818E4A93}"/>
                </a:ext>
              </a:extLst>
            </p:cNvPr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A9AEF70-76A2-06F3-A45D-CFD0BC876142}"/>
                </a:ext>
              </a:extLst>
            </p:cNvPr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6FBB904-8E0E-E11B-A37D-5C854211B53B}"/>
                </a:ext>
              </a:extLst>
            </p:cNvPr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14906AA-6DD4-0A2A-39FD-BE85B05BB162}"/>
                </a:ext>
              </a:extLst>
            </p:cNvPr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B274E8A-2879-42EA-AF48-BFC129DD6257}"/>
                </a:ext>
              </a:extLst>
            </p:cNvPr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FBC8766-1E49-A226-48ED-3124CE7A2E51}"/>
                </a:ext>
              </a:extLst>
            </p:cNvPr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62BC855-1344-FEE6-EC5E-BE9F95F3D0A7}"/>
                </a:ext>
              </a:extLst>
            </p:cNvPr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3E7139D-0194-2A88-01F2-47903237F109}"/>
                </a:ext>
              </a:extLst>
            </p:cNvPr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453371A-C6CC-94E8-992D-E987586371BA}"/>
                </a:ext>
              </a:extLst>
            </p:cNvPr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53C31EE-DFBF-A19A-0092-D580A6DDBCE2}"/>
                </a:ext>
              </a:extLst>
            </p:cNvPr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FBB5581-F3B0-8186-81C8-93E8C6C00ED5}"/>
                </a:ext>
              </a:extLst>
            </p:cNvPr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D230E4D-15D2-A0DE-9168-1AEC5B387A6D}"/>
                </a:ext>
              </a:extLst>
            </p:cNvPr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8CFCB76-2013-BBD6-B863-BA72DA4BC52B}"/>
                </a:ext>
              </a:extLst>
            </p:cNvPr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0EBE10-0062-DFC2-8CA9-2FFFC35C355D}"/>
                </a:ext>
              </a:extLst>
            </p:cNvPr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FE0B2FE-A0FD-B945-64E1-E74B9F2F145E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786F267-C1FE-B46E-828B-ADFB138114E8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4E19B7D-5CE6-A7BD-F4D1-370DB01167B7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91D8A556-4614-3FDC-7B17-1F4020B7B05B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5538C76-9924-0503-D6C5-408E79807AEA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B10E6C3A-DA25-32C1-D1C8-6D57045160ED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412BBD76-BEB9-8812-83C3-DB3C5649C949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C211626B-9731-DE7B-6A42-6658EEF48166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57CA4BB4-21D3-C575-3833-036C0D483EAA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C4CE315F-C109-49C7-0E23-6131FF7C9A7B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EE8B650B-6EC3-5FE0-80C4-C10CFA3743B3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D217394F-9034-90AE-BF3B-185D0DC891D2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6355A4EF-8D53-AFB6-2744-D936B16739C6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4D0F264A-593D-FF33-58C7-2B1B3A436A3D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BF76DBC-CDCB-A325-5279-5C471CA4A78F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5525E0DB-D4B8-C517-25F3-E47739D17123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CF745D0-7CA5-A41E-F515-A14CF4C692F0}"/>
                </a:ext>
              </a:extLst>
            </p:cNvPr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0DD666FD-01E3-D7C5-7CE0-66CA0813BC53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AC75AF8-CCB9-98B2-3B9A-F3BF900FD0C1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F7B6BEC-E61F-B471-A11D-3CE064A7F479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7B5A8D7-E82B-C56A-5886-90F61C6948E0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0F0DFD0A-855C-AAFF-4535-32C6747B8A6F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C3C50334-4E72-BA95-2BDD-643244C479E4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0B2AFC9A-7F9E-ABD0-1230-619BEEE8B903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1C4DCBA-E55D-7D66-A4BA-DD475DEBA8F4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ECFC793C-CC31-69F8-6960-EAADF008D4EB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D22F5937-FD5D-8598-1F40-A37C012AF2E8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27B3C0BC-4F9E-7D0F-1D9D-3B4A0DDCF0B0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31633E29-E7C4-78B1-BF83-70DD42BAC2DC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05D2323-BE79-E82D-2BCC-82F257F342B5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D6C558C-54FE-1DCE-EB1E-D08CAE8A1C1F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7F12FBA-E8B7-3DD6-7C09-19F648F853C6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61191645-99F8-6557-1EB7-182FBA921012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C3F1D7D-36D3-0171-D1D9-71225657D7E4}"/>
              </a:ext>
            </a:extLst>
          </p:cNvPr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86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49" r:id="rId13"/>
    <p:sldLayoutId id="2147483850" r:id="rId14"/>
    <p:sldLayoutId id="2147483851" r:id="rId15"/>
    <p:sldLayoutId id="2147483852" r:id="rId16"/>
    <p:sldLayoutId id="214748385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yatt.com/solutions/lnp-formulation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researchgate.net/publication/346634789/figure/fig1/AS%3A983460407697408%401611486641333/Scheme-of-top-down-and-bottom-up-synthesis-of-nanoparticles-NPs.jpg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nsidetx.com/resources/reviews/lnp-synthesis-overview-of-the-manufacturing-methods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undefined">
            <a:extLst>
              <a:ext uri="{FF2B5EF4-FFF2-40B4-BE49-F238E27FC236}">
                <a16:creationId xmlns:a16="http://schemas.microsoft.com/office/drawing/2014/main" id="{12795684-46F7-3265-A215-AAABFAFDA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1150" y="188338"/>
            <a:ext cx="1409700" cy="1400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6ACFB5-C09A-0397-D3DE-EB7685F6A5C6}"/>
              </a:ext>
            </a:extLst>
          </p:cNvPr>
          <p:cNvSpPr txBox="1"/>
          <p:nvPr/>
        </p:nvSpPr>
        <p:spPr>
          <a:xfrm>
            <a:off x="1547963" y="1862443"/>
            <a:ext cx="10497388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200" b="1">
                <a:latin typeface="Times New Roman"/>
                <a:cs typeface="Times New Roman"/>
              </a:rPr>
              <a:t>LNP Manufacturing and Process Simulation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2D99D-FC7B-D487-3EA9-504C6BA9D416}"/>
              </a:ext>
            </a:extLst>
          </p:cNvPr>
          <p:cNvSpPr txBox="1"/>
          <p:nvPr/>
        </p:nvSpPr>
        <p:spPr>
          <a:xfrm>
            <a:off x="4701396" y="1579305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IN" sz="1800" baseline="0">
                <a:solidFill>
                  <a:srgbClr val="2D2E2D"/>
                </a:solidFill>
                <a:latin typeface="Times New Roman"/>
                <a:ea typeface="Segoe UI"/>
                <a:cs typeface="Segoe UI"/>
              </a:rPr>
              <a:t>CL 299 Mid-Sem Presentation </a:t>
            </a:r>
            <a:r>
              <a:rPr lang="en-US" sz="1800" baseline="0">
                <a:solidFill>
                  <a:srgbClr val="2D2E2D"/>
                </a:solidFill>
                <a:latin typeface="Times New Roman"/>
                <a:ea typeface="Segoe UI"/>
                <a:cs typeface="Segoe UI"/>
              </a:rPr>
              <a:t>​</a:t>
            </a:r>
            <a:r>
              <a:rPr lang="en-US" sz="1800">
                <a:solidFill>
                  <a:srgbClr val="2D2E2D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>
                <a:solidFill>
                  <a:srgbClr val="2D2E2D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A4DC73-808B-9FEB-D657-D9A47709C8C5}"/>
              </a:ext>
            </a:extLst>
          </p:cNvPr>
          <p:cNvSpPr txBox="1"/>
          <p:nvPr/>
        </p:nvSpPr>
        <p:spPr>
          <a:xfrm>
            <a:off x="1548729" y="4643216"/>
            <a:ext cx="357536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>
                <a:solidFill>
                  <a:srgbClr val="2D2E2D"/>
                </a:solidFill>
                <a:latin typeface="Times New Roman"/>
                <a:ea typeface="Segoe UI"/>
                <a:cs typeface="Segoe UI"/>
              </a:rPr>
              <a:t>Presented by:</a:t>
            </a:r>
          </a:p>
          <a:p>
            <a:r>
              <a:rPr lang="en-IN" err="1">
                <a:solidFill>
                  <a:srgbClr val="2D2E2D"/>
                </a:solidFill>
                <a:latin typeface="Times New Roman"/>
                <a:ea typeface="Segoe UI"/>
                <a:cs typeface="Segoe UI"/>
              </a:rPr>
              <a:t>Rhythem</a:t>
            </a:r>
            <a:r>
              <a:rPr lang="en-IN">
                <a:solidFill>
                  <a:srgbClr val="2D2E2D"/>
                </a:solidFill>
                <a:latin typeface="Times New Roman"/>
                <a:ea typeface="Segoe UI"/>
                <a:cs typeface="Segoe UI"/>
              </a:rPr>
              <a:t> Soni 24110296 </a:t>
            </a:r>
            <a:endParaRPr lang="en-US">
              <a:solidFill>
                <a:srgbClr val="2D2E2D"/>
              </a:solidFill>
              <a:latin typeface="Arial"/>
              <a:ea typeface="Segoe UI"/>
              <a:cs typeface="Arial"/>
            </a:endParaRPr>
          </a:p>
          <a:p>
            <a:r>
              <a:rPr lang="en-IN">
                <a:solidFill>
                  <a:srgbClr val="2D2E2D"/>
                </a:solidFill>
                <a:latin typeface="Times New Roman"/>
                <a:ea typeface="Segoe UI"/>
                <a:cs typeface="Segoe UI"/>
              </a:rPr>
              <a:t>Aman Bola 24110032 </a:t>
            </a:r>
            <a:endParaRPr lang="en-US">
              <a:solidFill>
                <a:srgbClr val="2D2E2D"/>
              </a:solidFill>
              <a:latin typeface="Arial"/>
              <a:ea typeface="Segoe UI"/>
              <a:cs typeface="Arial"/>
            </a:endParaRPr>
          </a:p>
          <a:p>
            <a:r>
              <a:rPr lang="en-IN">
                <a:solidFill>
                  <a:srgbClr val="2D2E2D"/>
                </a:solidFill>
                <a:latin typeface="Times New Roman"/>
                <a:ea typeface="Segoe UI"/>
                <a:cs typeface="Segoe UI"/>
              </a:rPr>
              <a:t>Saket </a:t>
            </a:r>
            <a:r>
              <a:rPr lang="en-IN" err="1">
                <a:solidFill>
                  <a:srgbClr val="2D2E2D"/>
                </a:solidFill>
                <a:latin typeface="Times New Roman"/>
                <a:ea typeface="Segoe UI"/>
                <a:cs typeface="Segoe UI"/>
              </a:rPr>
              <a:t>Jonwal</a:t>
            </a:r>
            <a:r>
              <a:rPr lang="en-IN">
                <a:solidFill>
                  <a:srgbClr val="2D2E2D"/>
                </a:solidFill>
                <a:latin typeface="Times New Roman"/>
                <a:ea typeface="Segoe UI"/>
                <a:cs typeface="Segoe UI"/>
              </a:rPr>
              <a:t> 24110311</a:t>
            </a:r>
            <a:endParaRPr lang="en-US">
              <a:cs typeface="Arial"/>
            </a:endParaRPr>
          </a:p>
          <a:p>
            <a:pPr rtl="0"/>
            <a:r>
              <a:rPr lang="en-IN" sz="1800">
                <a:solidFill>
                  <a:srgbClr val="2D2E2D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endParaRPr lang="en-US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757B0-67C7-AE4A-AC73-24C66403401E}"/>
              </a:ext>
            </a:extLst>
          </p:cNvPr>
          <p:cNvSpPr txBox="1"/>
          <p:nvPr/>
        </p:nvSpPr>
        <p:spPr>
          <a:xfrm>
            <a:off x="1793096" y="4103538"/>
            <a:ext cx="95202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Special thanks to </a:t>
            </a:r>
            <a:r>
              <a:rPr lang="en-US" b="1">
                <a:latin typeface="Times New Roman"/>
                <a:cs typeface="Times New Roman"/>
              </a:rPr>
              <a:t>Prof. Kaustubh S. Rane</a:t>
            </a:r>
            <a:r>
              <a:rPr lang="en-US">
                <a:latin typeface="Times New Roman"/>
                <a:cs typeface="Times New Roman"/>
              </a:rPr>
              <a:t> for invaluable guidance and for giving us this opportunity.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D18DB4-42EB-B299-239B-243F8847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184" y="6397542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1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61A2258-5F88-CBC7-BD9A-6F0951FCC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4231"/>
            <a:ext cx="5965209" cy="953709"/>
          </a:xfrm>
        </p:spPr>
        <p:txBody>
          <a:bodyPr>
            <a:normAutofit/>
          </a:bodyPr>
          <a:lstStyle/>
          <a:p>
            <a:r>
              <a:rPr lang="en-US" sz="3800" b="1">
                <a:latin typeface="Times New Roman"/>
                <a:cs typeface="Times New Roman"/>
              </a:rPr>
              <a:t>Objective of the Project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AB4DD0-AA15-BD9C-867D-32F36D324FB1}"/>
              </a:ext>
            </a:extLst>
          </p:cNvPr>
          <p:cNvSpPr txBox="1">
            <a:spLocks/>
          </p:cNvSpPr>
          <p:nvPr/>
        </p:nvSpPr>
        <p:spPr>
          <a:xfrm>
            <a:off x="1240766" y="17215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/>
                <a:cs typeface="Times New Roman"/>
              </a:rPr>
              <a:t>To develop a process-level understanding of commercial-scale Lipid Nanoparticle (LNP) manufacturing for mRNA drug delivery.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Directly injected mRNA would be rapidly degraded by enzymes in the body before it can reach and enter cells.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So, mRNA strands are encapsulated inside LNPs to deliver them to target cells.</a:t>
            </a:r>
          </a:p>
          <a:p>
            <a:r>
              <a:rPr lang="en-US">
                <a:latin typeface="Times New Roman"/>
                <a:cs typeface="Times New Roman"/>
              </a:rPr>
              <a:t>To systematically study: Feed composition</a:t>
            </a:r>
            <a:br>
              <a:rPr lang="en-US">
                <a:latin typeface="Times New Roman"/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                                       Mixing technologies</a:t>
            </a:r>
            <a:br>
              <a:rPr lang="en-US"/>
            </a:br>
            <a:r>
              <a:rPr lang="en-US">
                <a:latin typeface="Times New Roman"/>
                <a:cs typeface="Times New Roman"/>
              </a:rPr>
              <a:t>                                       Downstream processing</a:t>
            </a:r>
            <a:br>
              <a:rPr lang="en-US">
                <a:latin typeface="Times New Roman"/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                                       Process Analytical Technology (PAT)</a:t>
            </a:r>
          </a:p>
          <a:p>
            <a:r>
              <a:rPr lang="en-US">
                <a:latin typeface="Times New Roman"/>
                <a:cs typeface="Times New Roman"/>
              </a:rPr>
              <a:t>To use this understanding as a foundation for process simulation.</a:t>
            </a:r>
          </a:p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4816E-55D5-C483-D7F6-44BA0A73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782" y="6397177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1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D6BF-F1E0-27A2-CF5A-24E6C6297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-227667"/>
            <a:ext cx="9601200" cy="1142385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LNPs and their Composition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2FA89-5A72-E5C0-9090-695839FF8157}"/>
              </a:ext>
            </a:extLst>
          </p:cNvPr>
          <p:cNvSpPr txBox="1"/>
          <p:nvPr/>
        </p:nvSpPr>
        <p:spPr>
          <a:xfrm>
            <a:off x="1420385" y="803537"/>
            <a:ext cx="9779758" cy="5909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20B0604020202020204" pitchFamily="34" charset="0"/>
              <a:buChar char="§"/>
            </a:pPr>
            <a:r>
              <a:rPr lang="en-US" sz="2000">
                <a:latin typeface="Times New Roman"/>
                <a:cs typeface="Times New Roman"/>
              </a:rPr>
              <a:t>Lipid Nanoparticles are tiny spherical particles made 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/>
                <a:cs typeface="Times New Roman"/>
              </a:rPr>
              <a:t>of lipids of nanometer size (10nm to 100nm).</a:t>
            </a:r>
            <a:endParaRPr lang="en-US">
              <a:cs typeface="Arial"/>
            </a:endParaRP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20B0604020202020204" pitchFamily="34" charset="0"/>
              <a:buChar char="§"/>
            </a:pPr>
            <a:r>
              <a:rPr lang="en-US" sz="2000">
                <a:latin typeface="Times New Roman"/>
                <a:cs typeface="Times New Roman"/>
              </a:rPr>
              <a:t>They encapsulate and protect fragile molecules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/>
                <a:cs typeface="Times New Roman"/>
              </a:rPr>
              <a:t>like mRNA to reach and enter in cells efficiently.</a:t>
            </a:r>
          </a:p>
          <a:p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Detailed study of LNP composition</a:t>
            </a: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>
                <a:latin typeface="Times New Roman"/>
                <a:cs typeface="Times New Roman"/>
              </a:rPr>
              <a:t>Ionizable lipids → RNA binding &amp;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/>
                <a:cs typeface="Times New Roman"/>
              </a:rPr>
              <a:t>                               endosomal escape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Helper lipids → structural stability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Cholesterol → membrane rigidity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>
                <a:latin typeface="Times New Roman"/>
                <a:cs typeface="Times New Roman"/>
              </a:rPr>
              <a:t>PEG-lipids → size control &amp; colloidal 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/>
                <a:cs typeface="Times New Roman"/>
              </a:rPr>
              <a:t>                        stability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>
                <a:latin typeface="Times New Roman"/>
                <a:cs typeface="Times New Roman"/>
              </a:rPr>
              <a:t>Composition directly affects CQAs (size, PDI, encapsulation)</a:t>
            </a:r>
            <a:br>
              <a:rPr lang="en-US" sz="2000">
                <a:latin typeface="Times New Roman"/>
                <a:cs typeface="Times New Roman"/>
              </a:rPr>
            </a:br>
            <a:endParaRPr lang="en-US">
              <a:latin typeface="Times New Roman"/>
              <a:cs typeface="Times New Roman"/>
            </a:endParaRPr>
          </a:p>
          <a:p>
            <a:pPr marL="342900" indent="-342900">
              <a:buClr>
                <a:srgbClr val="0C5A82"/>
              </a:buClr>
              <a:buFont typeface="Wingdings" panose="05000000000000000000" pitchFamily="2" charset="2"/>
              <a:buChar char="§"/>
            </a:pPr>
            <a:r>
              <a:rPr lang="en-US" sz="2000">
                <a:latin typeface="Times New Roman"/>
                <a:cs typeface="Times New Roman"/>
              </a:rPr>
              <a:t>Initially Liposomes were used for drug delivery, but LNPs have higher encapsulation efficiency, excellent scalability and reproducibility, and have efficient endosomal escape than liposomes.</a:t>
            </a:r>
            <a:endParaRPr lang="en-US">
              <a:latin typeface="Times New Roman"/>
              <a:cs typeface="Times New Roman"/>
            </a:endParaRP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20B0604020202020204" pitchFamily="34" charset="0"/>
              <a:buChar char="§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26887-F2DE-1ECE-95E9-740EB19EC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439" y="1625402"/>
            <a:ext cx="3684086" cy="29683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68873-A92C-F1D5-ABE7-C7D19F33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859" y="6317086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3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F2CD3-6B94-15F1-EFBB-780AA168B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8A8DCDC8-FB9A-3EE5-DA1E-AFCADCF43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720" y="749450"/>
            <a:ext cx="9541313" cy="4655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E9F4FD-C7BC-3861-7898-69B4621F0680}"/>
              </a:ext>
            </a:extLst>
          </p:cNvPr>
          <p:cNvSpPr txBox="1"/>
          <p:nvPr/>
        </p:nvSpPr>
        <p:spPr>
          <a:xfrm>
            <a:off x="2172329" y="6250781"/>
            <a:ext cx="111442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Source - https://www.wyatt.com/solutions/lnp-formulation.html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0E773-10AC-DAD8-93F1-BEAD826B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5279" y="6337045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1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D7C4-27BD-8E80-75BD-EE5C4841B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CF780-7CFE-9E8B-DEE2-3BB76F3CB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5960" y="827118"/>
            <a:ext cx="8341360" cy="685483"/>
          </a:xfrm>
        </p:spPr>
        <p:txBody>
          <a:bodyPr>
            <a:normAutofit/>
          </a:bodyPr>
          <a:lstStyle/>
          <a:p>
            <a:r>
              <a:rPr lang="en-US" sz="2800">
                <a:latin typeface="Times New Roman"/>
                <a:ea typeface="+mj-lt"/>
                <a:cs typeface="+mj-lt"/>
              </a:rPr>
              <a:t>Feed Composition &amp; Ratios</a:t>
            </a:r>
            <a:endParaRPr lang="en-US" sz="2800" b="1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1137-71C2-B17A-55E6-75D18F4ADFC6}"/>
              </a:ext>
            </a:extLst>
          </p:cNvPr>
          <p:cNvSpPr txBox="1">
            <a:spLocks/>
          </p:cNvSpPr>
          <p:nvPr/>
        </p:nvSpPr>
        <p:spPr>
          <a:xfrm>
            <a:off x="1390374" y="142820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>
                <a:latin typeface="Times New Roman"/>
                <a:ea typeface="+mn-lt"/>
                <a:cs typeface="+mn-lt"/>
              </a:rPr>
              <a:t>Aqueous Feed</a:t>
            </a:r>
            <a:endParaRPr lang="en-US" b="1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mRNA dissolved in buffer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Buffer concentration ≤ 25 mM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pH ≈ 4 during mixing</a:t>
            </a:r>
            <a:endParaRPr lang="en-US">
              <a:latin typeface="Times New Roman"/>
              <a:cs typeface="Arial"/>
            </a:endParaRPr>
          </a:p>
          <a:p>
            <a:pPr marL="0" indent="0">
              <a:buClr>
                <a:srgbClr val="A43F27"/>
              </a:buClr>
              <a:buNone/>
            </a:pPr>
            <a:r>
              <a:rPr lang="en-US" b="1">
                <a:latin typeface="Times New Roman"/>
                <a:ea typeface="+mn-lt"/>
                <a:cs typeface="+mn-lt"/>
              </a:rPr>
              <a:t>Importance of Mixing</a:t>
            </a:r>
          </a:p>
          <a:p>
            <a:r>
              <a:rPr lang="en-US">
                <a:latin typeface="Times New Roman"/>
                <a:ea typeface="+mn-lt"/>
                <a:cs typeface="+mn-lt"/>
              </a:rPr>
              <a:t>Mixing time and method control LNP self-assembly, particle size, and uniformity (PDI).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Proper rapid mixing ensures homogeneous conditions and high mRNA encapsulation efficiency, improving drug loading.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latin typeface="Times New Roman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A43F27"/>
              </a:buClr>
              <a:buNone/>
            </a:pPr>
            <a:endParaRPr lang="en-US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A3F30D-DBD5-4B07-2FA7-9565B3816894}"/>
              </a:ext>
            </a:extLst>
          </p:cNvPr>
          <p:cNvSpPr txBox="1"/>
          <p:nvPr/>
        </p:nvSpPr>
        <p:spPr>
          <a:xfrm>
            <a:off x="5989831" y="1507622"/>
            <a:ext cx="4953000" cy="18651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sz="2000" b="1">
                <a:latin typeface="Times New Roman"/>
                <a:cs typeface="Times New Roman"/>
              </a:rPr>
              <a:t>Organic Feed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90000"/>
              </a:lnSpc>
              <a:spcBef>
                <a:spcPts val="1800"/>
              </a:spcBef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Lipids dissolved in ethanol</a:t>
            </a:r>
          </a:p>
          <a:p>
            <a:pPr marL="285750" indent="-285750">
              <a:lnSpc>
                <a:spcPct val="90000"/>
              </a:lnSpc>
              <a:spcBef>
                <a:spcPts val="1800"/>
              </a:spcBef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Total lipid concentration ≈ 10 mM</a:t>
            </a:r>
          </a:p>
          <a:p>
            <a:pPr marL="285750" indent="-285750">
              <a:lnSpc>
                <a:spcPct val="90000"/>
              </a:lnSpc>
              <a:spcBef>
                <a:spcPts val="1800"/>
              </a:spcBef>
              <a:buFont typeface="Arial"/>
              <a:buChar char="•"/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5F24F4-6AE5-7BB3-63CE-9B9D5BC9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9774" y="6319904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2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9E69F-5FF3-5FF1-B3D1-081664DF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013" y="110563"/>
            <a:ext cx="9601200" cy="1142385"/>
          </a:xfrm>
        </p:spPr>
        <p:txBody>
          <a:bodyPr/>
          <a:lstStyle/>
          <a:p>
            <a:r>
              <a:rPr lang="en-US">
                <a:latin typeface="Times New Roman"/>
                <a:cs typeface="Arial"/>
              </a:rPr>
              <a:t>Design Space</a:t>
            </a:r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2E5B03-361C-B7BB-A489-CDAD2C779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041794"/>
              </p:ext>
            </p:extLst>
          </p:nvPr>
        </p:nvGraphicFramePr>
        <p:xfrm>
          <a:off x="1324685" y="1463461"/>
          <a:ext cx="9713256" cy="259099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3237752">
                  <a:extLst>
                    <a:ext uri="{9D8B030D-6E8A-4147-A177-3AD203B41FA5}">
                      <a16:colId xmlns:a16="http://schemas.microsoft.com/office/drawing/2014/main" val="1816886934"/>
                    </a:ext>
                  </a:extLst>
                </a:gridCol>
                <a:gridCol w="3237752">
                  <a:extLst>
                    <a:ext uri="{9D8B030D-6E8A-4147-A177-3AD203B41FA5}">
                      <a16:colId xmlns:a16="http://schemas.microsoft.com/office/drawing/2014/main" val="3561839723"/>
                    </a:ext>
                  </a:extLst>
                </a:gridCol>
                <a:gridCol w="3237752">
                  <a:extLst>
                    <a:ext uri="{9D8B030D-6E8A-4147-A177-3AD203B41FA5}">
                      <a16:colId xmlns:a16="http://schemas.microsoft.com/office/drawing/2014/main" val="1974543886"/>
                    </a:ext>
                  </a:extLst>
                </a:gridCol>
              </a:tblGrid>
              <a:tr h="51819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Component</a:t>
                      </a:r>
                      <a:endParaRPr lang="en-US" sz="2000" b="0" i="0" dirty="0">
                        <a:solidFill>
                          <a:srgbClr val="2D2E2D"/>
                        </a:solidFill>
                        <a:effectLst/>
                        <a:latin typeface="Times New Roman"/>
                      </a:endParaRP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Allowed Range (mol%)</a:t>
                      </a:r>
                      <a:endParaRPr lang="en-US" sz="2000" b="0" i="0">
                        <a:solidFill>
                          <a:srgbClr val="2D2E2D"/>
                        </a:solidFill>
                        <a:effectLst/>
                        <a:latin typeface="Times New Roman"/>
                      </a:endParaRP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Preferred Range </a:t>
                      </a:r>
                      <a:r>
                        <a:rPr lang="en-US" sz="2000" b="1" i="0" u="none" strike="noStrike" noProof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(mol%)</a:t>
                      </a:r>
                      <a:endParaRPr lang="en-US" sz="2000" b="0" i="0">
                        <a:solidFill>
                          <a:srgbClr val="2D2E2D"/>
                        </a:solidFill>
                        <a:effectLst/>
                        <a:latin typeface="Times New Roman"/>
                      </a:endParaRP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54966"/>
                  </a:ext>
                </a:extLst>
              </a:tr>
              <a:tr h="51819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Ionizable lipid</a:t>
                      </a: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10 – 60</a:t>
                      </a: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30 – 40</a:t>
                      </a: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035198"/>
                  </a:ext>
                </a:extLst>
              </a:tr>
              <a:tr h="51819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Helper lipid</a:t>
                      </a: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5 – 30</a:t>
                      </a: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10 – 20</a:t>
                      </a: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331797"/>
                  </a:ext>
                </a:extLst>
              </a:tr>
              <a:tr h="51819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Sterol</a:t>
                      </a: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5 – 70</a:t>
                      </a: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10 – 50</a:t>
                      </a: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421731"/>
                  </a:ext>
                </a:extLst>
              </a:tr>
              <a:tr h="51819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Lipopolymer</a:t>
                      </a: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0.5 – 50</a:t>
                      </a: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D2E2D"/>
                          </a:solidFill>
                          <a:effectLst/>
                          <a:latin typeface="Times New Roman"/>
                        </a:rPr>
                        <a:t>1 – 5</a:t>
                      </a:r>
                    </a:p>
                  </a:txBody>
                  <a:tcPr marL="83210" marR="83210" marT="41605" marB="41605" anchor="ctr">
                    <a:lnL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5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5007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734E2E9-4B99-CF68-0BEA-C268CE9D377C}"/>
              </a:ext>
            </a:extLst>
          </p:cNvPr>
          <p:cNvSpPr txBox="1"/>
          <p:nvPr/>
        </p:nvSpPr>
        <p:spPr>
          <a:xfrm>
            <a:off x="1277470" y="4198769"/>
            <a:ext cx="9771529" cy="10085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Obtaining structurally distinct LNPs often requires drastically changing the chemical composition.</a:t>
            </a:r>
            <a:endParaRPr lang="en-US"/>
          </a:p>
          <a:p>
            <a:pPr algn="l"/>
            <a:endParaRPr lang="en-US"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20BE4-AFDA-67B1-F7F7-13DF61DD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8069" y="6375796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2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244BC-F1E5-806D-24E7-722F57B32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5A82-398B-9CB5-CA7E-48F21DF72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314"/>
            <a:ext cx="6046573" cy="872482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ea typeface="Calibri"/>
                <a:cs typeface="Calibri"/>
              </a:rPr>
              <a:t>Mixing Technologies</a:t>
            </a:r>
            <a:endParaRPr lang="en-US" sz="3600" b="1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0FBED-B0F0-FA44-EB13-3B30C779BB4A}"/>
              </a:ext>
            </a:extLst>
          </p:cNvPr>
          <p:cNvSpPr txBox="1">
            <a:spLocks/>
          </p:cNvSpPr>
          <p:nvPr/>
        </p:nvSpPr>
        <p:spPr>
          <a:xfrm>
            <a:off x="1442499" y="1323236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b="1">
                <a:latin typeface="Times New Roman"/>
                <a:ea typeface="+mn-lt"/>
                <a:cs typeface="+mn-lt"/>
              </a:rPr>
              <a:t>Surveyed mixing approaches</a:t>
            </a:r>
            <a:endParaRPr lang="en-US" sz="1800" b="1">
              <a:latin typeface="Times New Roman"/>
              <a:ea typeface="Calibri" panose="020F0502020204030204"/>
              <a:cs typeface="Calibri" panose="020F0502020204030204"/>
            </a:endParaRPr>
          </a:p>
          <a:p>
            <a:pPr>
              <a:buFont typeface="Wingdings" pitchFamily="34" charset="0"/>
              <a:buChar char="§"/>
            </a:pPr>
            <a:r>
              <a:rPr lang="en-US" sz="1800">
                <a:latin typeface="Times New Roman"/>
                <a:ea typeface="+mn-lt"/>
                <a:cs typeface="+mn-lt"/>
              </a:rPr>
              <a:t>Top-down vs Bottom-up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Wingdings" pitchFamily="34" charset="0"/>
              <a:buChar char="§"/>
            </a:pPr>
            <a:r>
              <a:rPr lang="en-US" sz="1800">
                <a:latin typeface="Times New Roman"/>
                <a:ea typeface="+mn-lt"/>
                <a:cs typeface="+mn-lt"/>
              </a:rPr>
              <a:t>Thin-film hydration</a:t>
            </a:r>
            <a:endParaRPr lang="en-US" sz="1800">
              <a:latin typeface="Times New Roman"/>
              <a:ea typeface="Calibri" panose="020F0502020204030204"/>
              <a:cs typeface="Calibri" panose="020F0502020204030204"/>
            </a:endParaRPr>
          </a:p>
          <a:p>
            <a:pPr>
              <a:buFont typeface="Wingdings" pitchFamily="34" charset="0"/>
              <a:buChar char="§"/>
            </a:pPr>
            <a:r>
              <a:rPr lang="en-US" sz="1800">
                <a:latin typeface="Times New Roman"/>
                <a:ea typeface="+mn-lt"/>
                <a:cs typeface="+mn-lt"/>
              </a:rPr>
              <a:t>Manual mixing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Wingdings" pitchFamily="34" charset="0"/>
              <a:buChar char="§"/>
            </a:pPr>
            <a:r>
              <a:rPr lang="en-US" sz="1800">
                <a:latin typeface="Times New Roman"/>
                <a:ea typeface="+mn-lt"/>
                <a:cs typeface="+mn-lt"/>
              </a:rPr>
              <a:t>SCF methods</a:t>
            </a:r>
          </a:p>
          <a:p>
            <a:pPr>
              <a:buClr>
                <a:srgbClr val="1287C3"/>
              </a:buClr>
              <a:buFont typeface="Wingdings" pitchFamily="34" charset="0"/>
              <a:buChar char="§"/>
            </a:pPr>
            <a:r>
              <a:rPr lang="en-US" sz="1800">
                <a:latin typeface="Times New Roman"/>
                <a:ea typeface="+mn-lt"/>
                <a:cs typeface="Times New Roman"/>
              </a:rPr>
              <a:t>Microfluidics – </a:t>
            </a:r>
            <a:r>
              <a:rPr lang="en-US" sz="1800" err="1">
                <a:latin typeface="Times New Roman"/>
                <a:ea typeface="+mn-lt"/>
                <a:cs typeface="Times New Roman"/>
              </a:rPr>
              <a:t>NxGen</a:t>
            </a:r>
            <a:r>
              <a:rPr lang="en-US" sz="1800">
                <a:latin typeface="Times New Roman"/>
                <a:ea typeface="+mn-lt"/>
                <a:cs typeface="Times New Roman"/>
              </a:rPr>
              <a:t> Technology</a:t>
            </a:r>
            <a:endParaRPr lang="en-US" sz="1800">
              <a:latin typeface="Times New Roman"/>
              <a:ea typeface="+mn-lt"/>
              <a:cs typeface="+mn-lt"/>
            </a:endParaRPr>
          </a:p>
          <a:p>
            <a:pPr>
              <a:buFont typeface="Wingdings" pitchFamily="34" charset="0"/>
              <a:buChar char="§"/>
            </a:pPr>
            <a:r>
              <a:rPr lang="en-US" sz="1800" err="1">
                <a:latin typeface="Times New Roman"/>
                <a:ea typeface="+mn-lt"/>
                <a:cs typeface="+mn-lt"/>
              </a:rPr>
              <a:t>Macrofluidics</a:t>
            </a:r>
            <a:r>
              <a:rPr lang="en-US" sz="1800">
                <a:latin typeface="Times New Roman"/>
                <a:ea typeface="+mn-lt"/>
                <a:cs typeface="+mn-lt"/>
              </a:rPr>
              <a:t> – Impingement Jet Mixing (IJM)</a:t>
            </a:r>
            <a:br>
              <a:rPr lang="en-US" sz="1800">
                <a:latin typeface="Times New Roman"/>
                <a:ea typeface="+mn-lt"/>
                <a:cs typeface="+mn-lt"/>
              </a:rPr>
            </a:br>
            <a:br>
              <a:rPr lang="en-US" sz="1800">
                <a:latin typeface="Times New Roman"/>
                <a:ea typeface="+mn-lt"/>
                <a:cs typeface="+mn-lt"/>
              </a:rPr>
            </a:br>
            <a:r>
              <a:rPr lang="en-US" sz="1800">
                <a:latin typeface="Times New Roman"/>
                <a:ea typeface="+mn-lt"/>
                <a:cs typeface="+mn-lt"/>
              </a:rPr>
              <a:t>"In IJM two liquid streams collide head-on at high velocity which creates intense turbulence. Hence, LNPs are formed by self-assembly".</a:t>
            </a:r>
            <a:br>
              <a:rPr lang="en-US" sz="1800">
                <a:latin typeface="Times New Roman"/>
                <a:ea typeface="+mn-lt"/>
                <a:cs typeface="+mn-lt"/>
              </a:rPr>
            </a:br>
            <a:br>
              <a:rPr lang="en-US" sz="1800">
                <a:latin typeface="Times New Roman"/>
                <a:ea typeface="+mn-lt"/>
                <a:cs typeface="+mn-lt"/>
              </a:rPr>
            </a:br>
            <a:endParaRPr lang="en-US" sz="1800">
              <a:latin typeface="Times New Roman"/>
              <a:ea typeface="Calibri" panose="020F0502020204030204"/>
              <a:cs typeface="Arial"/>
            </a:endParaRPr>
          </a:p>
          <a:p>
            <a:pPr>
              <a:buClr>
                <a:srgbClr val="D15A3E">
                  <a:lumMod val="75000"/>
                </a:srgbClr>
              </a:buClr>
              <a:buFont typeface="Wingdings" pitchFamily="34" charset="0"/>
              <a:buChar char="§"/>
            </a:pPr>
            <a:endParaRPr lang="en-US" sz="1800">
              <a:latin typeface="Times New Roman"/>
              <a:ea typeface="Calibri" panose="020F0502020204030204"/>
              <a:cs typeface="Arial"/>
            </a:endParaRPr>
          </a:p>
          <a:p>
            <a:pPr>
              <a:buFont typeface="Wingdings" pitchFamily="34" charset="0"/>
              <a:buChar char="§"/>
            </a:pPr>
            <a:endParaRPr lang="en-US">
              <a:latin typeface="Arial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BEE6D-E294-2F60-90EA-8F79CFACF101}"/>
              </a:ext>
            </a:extLst>
          </p:cNvPr>
          <p:cNvSpPr txBox="1"/>
          <p:nvPr/>
        </p:nvSpPr>
        <p:spPr>
          <a:xfrm>
            <a:off x="309086" y="6174687"/>
            <a:ext cx="1157382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latin typeface="Times New Roman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https://www.researchgate.net/publication/346634789/figure/fig1/AS%3A983460407697408%401611486641333/Scheme-of-top-down-and-bottom-up-synthesis-of-nanoparticles-NPs.jpg</a:t>
            </a:r>
            <a:endParaRPr lang="en-US" sz="1200">
              <a:latin typeface="Times New Roman"/>
              <a:cs typeface="Times New Roman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6" name="Picture 5" descr="A diagram of a diagram of a nanoparticle&#10;&#10;AI-generated content may be incorrect.">
            <a:extLst>
              <a:ext uri="{FF2B5EF4-FFF2-40B4-BE49-F238E27FC236}">
                <a16:creationId xmlns:a16="http://schemas.microsoft.com/office/drawing/2014/main" id="{7AAEF683-528D-9A17-B67B-11BC702F14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4" t="2704" r="2095" b="123"/>
          <a:stretch>
            <a:fillRect/>
          </a:stretch>
        </p:blipFill>
        <p:spPr>
          <a:xfrm>
            <a:off x="5827959" y="1183426"/>
            <a:ext cx="5186468" cy="18553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5CEC6C-E99D-ACD6-1D41-EC7435F70C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5" r="2671"/>
          <a:stretch>
            <a:fillRect/>
          </a:stretch>
        </p:blipFill>
        <p:spPr>
          <a:xfrm>
            <a:off x="6759723" y="3323789"/>
            <a:ext cx="3322461" cy="276665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F1689D-2F4E-3D52-D0D3-6FD28CB5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2491" y="6324616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3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04D5B-D5BD-F9CD-348A-ABE95290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4016-A500-1431-D2A3-5C85A8FCA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75285"/>
            <a:ext cx="7884160" cy="634683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Times New Roman"/>
                <a:cs typeface="Times New Roman"/>
              </a:rPr>
              <a:t>Downstream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DB4D8-3810-2B23-B599-D510868088F3}"/>
              </a:ext>
            </a:extLst>
          </p:cNvPr>
          <p:cNvSpPr txBox="1">
            <a:spLocks/>
          </p:cNvSpPr>
          <p:nvPr/>
        </p:nvSpPr>
        <p:spPr>
          <a:xfrm>
            <a:off x="1484022" y="1018072"/>
            <a:ext cx="10515600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b="1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Quenching by dilution</a:t>
            </a:r>
            <a:r>
              <a:rPr lang="en-US">
                <a:latin typeface="Times New Roman"/>
                <a:cs typeface="Times New Roman"/>
              </a:rPr>
              <a:t> : </a:t>
            </a:r>
            <a:r>
              <a:rPr lang="en-US">
                <a:latin typeface="Times New Roman"/>
                <a:ea typeface="+mn-lt"/>
                <a:cs typeface="+mn-lt"/>
              </a:rPr>
              <a:t>Quenching by dilution is the rapid addition of buffer after mixing lipids (in ethanol) and RNA (in aqueous phase) to immediately reduce ethanol concentration and stop further particle growth.</a:t>
            </a:r>
            <a:endParaRPr lang="en-US">
              <a:latin typeface="Times New Roman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/>
                <a:cs typeface="Times New Roman"/>
              </a:rPr>
              <a:t>Tangential Flow Filtration (TFF)</a:t>
            </a:r>
            <a:r>
              <a:rPr lang="en-US">
                <a:latin typeface="Times New Roman"/>
                <a:cs typeface="Times New Roman"/>
              </a:rPr>
              <a:t> : </a:t>
            </a:r>
            <a:r>
              <a:rPr lang="en-US">
                <a:latin typeface="Times New Roman"/>
                <a:ea typeface="+mn-lt"/>
                <a:cs typeface="+mn-lt"/>
              </a:rPr>
              <a:t>Tangential Flow Filtration (TFF) is a membrane-based separation technique where liquid flows parallel to the membrane surface, allowing small molecules (like ethanol, salts, impurities) to pass through while retaining LNPs.</a:t>
            </a:r>
            <a:endParaRPr lang="en-US">
              <a:latin typeface="Times New Roman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/>
                <a:cs typeface="Times New Roman"/>
              </a:rPr>
              <a:t>Sterile Filtration</a:t>
            </a:r>
            <a:r>
              <a:rPr lang="en-US">
                <a:latin typeface="Times New Roman"/>
                <a:cs typeface="Times New Roman"/>
              </a:rPr>
              <a:t> : </a:t>
            </a:r>
            <a:r>
              <a:rPr lang="en-US">
                <a:latin typeface="Times New Roman"/>
                <a:ea typeface="+mn-lt"/>
                <a:cs typeface="+mn-lt"/>
              </a:rPr>
              <a:t>Sterile filtration is the passage of LNP solution through a micro membrane filter to remove microorganisms.</a:t>
            </a:r>
            <a:endParaRPr lang="en-US">
              <a:latin typeface="Times New Roman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/>
                <a:cs typeface="Times New Roman"/>
              </a:rPr>
              <a:t>Fill-finish and storage</a:t>
            </a:r>
            <a:r>
              <a:rPr lang="en-US">
                <a:latin typeface="Times New Roman"/>
                <a:cs typeface="Times New Roman"/>
              </a:rPr>
              <a:t> : </a:t>
            </a:r>
            <a:r>
              <a:rPr lang="en-US">
                <a:latin typeface="Times New Roman"/>
                <a:ea typeface="+mn-lt"/>
                <a:cs typeface="+mn-lt"/>
              </a:rPr>
              <a:t>Fill–finish is the aseptic filling of the sterile LNP formulation into vials or syringes, followed by sealing and labeling.</a:t>
            </a:r>
            <a:endParaRPr lang="en-US">
              <a:latin typeface="Times New Roman"/>
              <a:cs typeface="Times New Roman" panose="02020603050405020304" pitchFamily="18" charset="0"/>
            </a:endParaRPr>
          </a:p>
          <a:p>
            <a:pPr marL="0" indent="0">
              <a:buFont typeface="Arial" pitchFamily="34" charset="0"/>
              <a:buNone/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E3566-7037-5F82-0B82-E1EAFDA43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7624" y="6332892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2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D2B0-5622-22FB-B029-934A32F5E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126" y="0"/>
            <a:ext cx="10018713" cy="1752599"/>
          </a:xfrm>
        </p:spPr>
        <p:txBody>
          <a:bodyPr>
            <a:normAutofit/>
          </a:bodyPr>
          <a:lstStyle/>
          <a:p>
            <a:r>
              <a:rPr lang="en-US" sz="3800">
                <a:latin typeface="Times New Roman"/>
                <a:cs typeface="Times New Roman"/>
              </a:rPr>
              <a:t>Process Analytical Technology(PAT)  </a:t>
            </a:r>
            <a:endParaRPr lang="en-US" sz="3800" b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F4863-0A8C-15BE-B3AE-2FA4B1FBC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310" y="932101"/>
            <a:ext cx="9601200" cy="4808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sz="2000">
                <a:latin typeface="Times New Roman"/>
                <a:cs typeface="Times New Roman"/>
              </a:rPr>
              <a:t>Framework for real-time monitoring, analysis, and control of pharmaceutical manufacturing processes.</a:t>
            </a: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/>
                <a:cs typeface="Times New Roman"/>
              </a:rPr>
              <a:t>It mainly focus on – 1. Critical Quality Attributes (CQAs)</a:t>
            </a:r>
            <a:br>
              <a:rPr lang="en-US" sz="2000" dirty="0">
                <a:latin typeface="Times New Roman"/>
                <a:cs typeface="Times New Roman"/>
              </a:rPr>
            </a:br>
            <a:r>
              <a:rPr lang="en-US" sz="2000" dirty="0">
                <a:latin typeface="Times New Roman"/>
                <a:cs typeface="Times New Roman"/>
              </a:rPr>
              <a:t>                                 2. Critical Process Parameters (CPPs) </a:t>
            </a:r>
          </a:p>
          <a:p>
            <a:pPr marL="0" indent="0">
              <a:buSzPct val="100000"/>
              <a:buNone/>
            </a:pPr>
            <a:endParaRPr lang="en-US" sz="2000" dirty="0">
              <a:solidFill>
                <a:srgbClr val="2D2E2D"/>
              </a:solidFill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  <a:buFont typeface="Wingdings"/>
              <a:buChar char="§"/>
            </a:pPr>
            <a:endParaRPr lang="en-US">
              <a:solidFill>
                <a:schemeClr val="accent4"/>
              </a:solidFill>
              <a:latin typeface="Times New Roman"/>
              <a:cs typeface="Arial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3096A41-49BA-275B-05BE-B74BB844F24C}"/>
              </a:ext>
            </a:extLst>
          </p:cNvPr>
          <p:cNvSpPr txBox="1"/>
          <p:nvPr/>
        </p:nvSpPr>
        <p:spPr>
          <a:xfrm>
            <a:off x="1940424" y="3127339"/>
            <a:ext cx="4258056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>
                <a:latin typeface="Times New Roman"/>
                <a:cs typeface="Times New Roman"/>
              </a:rPr>
              <a:t>PAT integrates process understanding, real-time analysis, and control to ensure product quality.</a:t>
            </a:r>
            <a:endParaRPr lang="en-IN" sz="200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28759A-133E-EC08-7211-0BB692C6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417" y="2865120"/>
            <a:ext cx="3347085" cy="306832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0F686-1E8A-8487-C0F1-EE7CE729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4381" y="6347381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31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46E1-D1BE-C079-2F8D-C43CE8F80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-268307"/>
            <a:ext cx="9601200" cy="1142385"/>
          </a:xfrm>
        </p:spPr>
        <p:txBody>
          <a:bodyPr>
            <a:normAutofit/>
          </a:bodyPr>
          <a:lstStyle/>
          <a:p>
            <a:r>
              <a:rPr lang="en-US" sz="3800">
                <a:latin typeface="Times New Roman"/>
                <a:cs typeface="Arial"/>
              </a:rPr>
              <a:t>Some analytical techniques used in PAT</a:t>
            </a:r>
            <a:endParaRPr lang="en-US" sz="38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45D8C-888D-EDF2-B9F8-25BD24F49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0981" y="801017"/>
            <a:ext cx="9601200" cy="2062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sz="2000">
                <a:latin typeface="Times New Roman"/>
                <a:cs typeface="Times New Roman"/>
              </a:rPr>
              <a:t>Dynamic Light Scattering (DLS)</a:t>
            </a: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sz="2000">
                <a:latin typeface="Times New Roman"/>
                <a:cs typeface="Times New Roman"/>
              </a:rPr>
              <a:t>Zeta Potential Analysis  </a:t>
            </a: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sz="2000">
                <a:latin typeface="Times New Roman"/>
                <a:cs typeface="Times New Roman"/>
              </a:rPr>
              <a:t>X-ray Diffraction (XRD)</a:t>
            </a: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sz="2000">
                <a:latin typeface="Times New Roman"/>
                <a:cs typeface="Times New Roman"/>
              </a:rPr>
              <a:t>Mass Spectrometry (MS), etc.</a:t>
            </a:r>
            <a:endParaRPr lang="en-US" sz="2000">
              <a:cs typeface="Arial"/>
            </a:endParaRPr>
          </a:p>
          <a:p>
            <a:pPr>
              <a:buClr>
                <a:srgbClr val="A43F27"/>
              </a:buClr>
              <a:buFont typeface="Wingdings"/>
              <a:buChar char="§"/>
            </a:pP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819DC55-554D-1957-AF3D-80F4546265E5}"/>
              </a:ext>
            </a:extLst>
          </p:cNvPr>
          <p:cNvSpPr>
            <a:spLocks noGrp="1"/>
          </p:cNvSpPr>
          <p:nvPr/>
        </p:nvSpPr>
        <p:spPr>
          <a:xfrm>
            <a:off x="1718833" y="2286615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0">
                <a:solidFill>
                  <a:schemeClr val="tx1"/>
                </a:solidFill>
                <a:latin typeface="Times New Roman"/>
                <a:cs typeface="Times New Roman"/>
              </a:rPr>
              <a:t>PAT Tools</a:t>
            </a:r>
            <a:endParaRPr lang="en-IN" sz="4000" b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839659-8FA4-92F7-7DE8-AD550E26F6AA}"/>
              </a:ext>
            </a:extLst>
          </p:cNvPr>
          <p:cNvSpPr>
            <a:spLocks noGrp="1"/>
          </p:cNvSpPr>
          <p:nvPr/>
        </p:nvSpPr>
        <p:spPr>
          <a:xfrm>
            <a:off x="1993115" y="3429000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34" charset="0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tools for design, data acquisition, and analysis</a:t>
            </a:r>
            <a:endParaRPr lang="en-US"/>
          </a:p>
          <a:p>
            <a:pPr>
              <a:buFont typeface="Wingdings" pitchFamily="34" charset="0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Process analyzers</a:t>
            </a:r>
          </a:p>
          <a:p>
            <a:pPr>
              <a:buFont typeface="Wingdings" pitchFamily="34" charset="0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Process control tools</a:t>
            </a:r>
          </a:p>
          <a:p>
            <a:pPr>
              <a:buFont typeface="Wingdings" pitchFamily="34" charset="0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 and knowledge management tools</a:t>
            </a:r>
          </a:p>
          <a:p>
            <a:pPr marL="0" indent="0">
              <a:buNone/>
            </a:pPr>
            <a:r>
              <a:rPr lang="en-US">
                <a:latin typeface="Times New Roman"/>
                <a:cs typeface="Times New Roman"/>
              </a:rPr>
              <a:t>An appropriate combination of some or all of these tools may be applicable to a single unit operation or to an entire manufacturing process and its quality assurance.</a:t>
            </a:r>
          </a:p>
          <a:p>
            <a:pPr>
              <a:buFont typeface="Wingdings" pitchFamily="34" charset="0"/>
              <a:buChar char="§"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5536C79-A3F9-D141-DC26-2F3526A51F32}"/>
              </a:ext>
            </a:extLst>
          </p:cNvPr>
          <p:cNvSpPr>
            <a:spLocks noGrp="1"/>
          </p:cNvSpPr>
          <p:nvPr/>
        </p:nvSpPr>
        <p:spPr>
          <a:xfrm>
            <a:off x="10401151" y="883983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31375A4-56A4-47D6-9801-1991572033F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8BC081-C309-953B-8A6C-08669902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479" y="6343087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4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69BC-7F23-B105-C607-1DE4FE65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84048"/>
            <a:ext cx="5964936" cy="768414"/>
          </a:xfrm>
        </p:spPr>
        <p:txBody>
          <a:bodyPr>
            <a:norm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PAT Measurement Level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72D93-7246-8F74-A54A-9EECC0F6A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95984"/>
            <a:ext cx="9601200" cy="4611624"/>
          </a:xfrm>
        </p:spPr>
        <p:txBody>
          <a:bodyPr>
            <a:normAutofit/>
          </a:bodyPr>
          <a:lstStyle/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/>
                <a:cs typeface="Times New Roman"/>
              </a:rPr>
              <a:t>Describe how closely an analytical method is connected to the manufacturing process and how useful it is for real-time control.</a:t>
            </a: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/>
                <a:cs typeface="Times New Roman"/>
              </a:rPr>
              <a:t>Four Analytical levels: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/>
                <a:cs typeface="Times New Roman"/>
              </a:rPr>
              <a:t>Offline: </a:t>
            </a:r>
            <a:r>
              <a:rPr lang="en-IN" sz="2000" dirty="0">
                <a:latin typeface="Times New Roman"/>
                <a:cs typeface="Times New Roman"/>
              </a:rPr>
              <a:t>analysis after sample removal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/>
                <a:cs typeface="Times New Roman"/>
              </a:rPr>
              <a:t>At-line: analysis near the manufacturing line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/>
                <a:cs typeface="Times New Roman"/>
              </a:rPr>
              <a:t>Online: automated sampling and analysis loop</a:t>
            </a:r>
            <a:br>
              <a:rPr lang="en-US" sz="2000" dirty="0">
                <a:latin typeface="Times New Roman"/>
                <a:cs typeface="Times New Roman"/>
              </a:rPr>
            </a:br>
            <a:br>
              <a:rPr lang="en-US" sz="2000" dirty="0">
                <a:latin typeface="Times New Roman"/>
                <a:cs typeface="Times New Roman"/>
              </a:rPr>
            </a:br>
            <a:r>
              <a:rPr lang="en-US" sz="2000" dirty="0">
                <a:latin typeface="Times New Roman"/>
                <a:cs typeface="Times New Roman"/>
              </a:rPr>
              <a:t>In-line: sensor placed directly in the process stream</a:t>
            </a: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/>
                <a:cs typeface="Times New Roman"/>
              </a:rPr>
              <a:t>Process relevance and control capability increase from offline to Inline.</a:t>
            </a:r>
            <a:endParaRPr lang="en-IN" sz="2000" dirty="0"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5FB5C-3653-0156-8D70-53561927B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2056" y="6360876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7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16BBD-292F-288C-1042-896D7349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35830-BDD5-18CD-CC72-A4B65A24D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What Next: Process &amp; Technology Development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46558BC-7734-8FF7-76BA-1B7A8EEDC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3432" y="2049370"/>
            <a:ext cx="1016871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>
                <a:latin typeface="Times New Roman"/>
                <a:cs typeface="Times New Roman"/>
              </a:rPr>
              <a:t>Develop detailed chemical-engineering style process flowcharts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b="1">
                <a:latin typeface="Times New Roman"/>
                <a:cs typeface="Times New Roman"/>
              </a:rPr>
              <a:t>Prepare separate flowcharts for: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Times New Roman"/>
                <a:cs typeface="Times New Roman"/>
              </a:rPr>
              <a:t>Lab scale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Times New Roman"/>
                <a:cs typeface="Times New Roman"/>
              </a:rPr>
              <a:t>Intermediate / clinical scale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Times New Roman"/>
                <a:cs typeface="Times New Roman"/>
              </a:rPr>
              <a:t>Industrial scale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43F27"/>
              </a:buClr>
            </a:pPr>
            <a:endParaRPr lang="en-US" altLang="en-US">
              <a:latin typeface="Times New Roman"/>
              <a:cs typeface="Times New Roman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b="1">
                <a:latin typeface="Times New Roman"/>
                <a:cs typeface="Times New Roman"/>
              </a:rPr>
              <a:t>For each unit operation, identify: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Times New Roman"/>
                <a:cs typeface="Times New Roman"/>
              </a:rPr>
              <a:t>Technologies used (from patents &amp; literature)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Times New Roman"/>
                <a:cs typeface="Times New Roman"/>
              </a:rPr>
              <a:t>Scale-dependent differences (lab vs industry)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Times New Roman"/>
                <a:cs typeface="Times New Roman"/>
              </a:rPr>
              <a:t>Focus on real processes, not conceptual diagrams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FD50A-A813-5088-6866-5F4B4809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8799" y="6367822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1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E47F8-7A4A-AADB-EB93-114E980F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EA07-BC2B-F08A-6BB9-004DB4F45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>
                <a:latin typeface="Times New Roman"/>
                <a:ea typeface="+mj-lt"/>
                <a:cs typeface="+mj-lt"/>
              </a:rPr>
              <a:t>Data Catalogue, PAT &amp; Code Prep</a:t>
            </a:r>
            <a:endParaRPr lang="en-US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D08F-C894-EEAA-39C5-8F44E1EED51A}"/>
              </a:ext>
            </a:extLst>
          </p:cNvPr>
          <p:cNvSpPr txBox="1">
            <a:spLocks/>
          </p:cNvSpPr>
          <p:nvPr/>
        </p:nvSpPr>
        <p:spPr>
          <a:xfrm>
            <a:off x="1493292" y="179832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>
                <a:latin typeface="Times New Roman"/>
                <a:ea typeface="+mn-lt"/>
                <a:cs typeface="+mn-lt"/>
              </a:rPr>
              <a:t>Create exhaustive patent-based material catalogue:</a:t>
            </a:r>
            <a:endParaRPr lang="en-US" b="1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/>
            <a:r>
              <a:rPr lang="en-US">
                <a:latin typeface="Times New Roman"/>
                <a:ea typeface="+mn-lt"/>
                <a:cs typeface="+mn-lt"/>
              </a:rPr>
              <a:t>Ionizable lipids, helper lipids, sterols, PEG-lipids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/>
            <a:r>
              <a:rPr lang="en-US">
                <a:latin typeface="Times New Roman"/>
                <a:ea typeface="+mn-lt"/>
                <a:cs typeface="+mn-lt"/>
              </a:rPr>
              <a:t>Include molecular weights for mol–mass conversion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itchFamily="34" charset="0"/>
              <a:buNone/>
            </a:pPr>
            <a:r>
              <a:rPr lang="en-US">
                <a:latin typeface="Times New Roman"/>
                <a:ea typeface="+mn-lt"/>
                <a:cs typeface="+mn-lt"/>
                <a:sym typeface="Wingdings" panose="05000000000000000000" pitchFamily="2" charset="2"/>
              </a:rPr>
              <a:t> </a:t>
            </a:r>
            <a:r>
              <a:rPr lang="en-US">
                <a:latin typeface="Times New Roman"/>
                <a:ea typeface="+mn-lt"/>
                <a:cs typeface="+mn-lt"/>
              </a:rPr>
              <a:t>Prepare basic Python data lists (not full simulation yet)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itchFamily="34" charset="0"/>
              <a:buNone/>
            </a:pPr>
            <a:r>
              <a:rPr lang="en-US" b="1">
                <a:latin typeface="Times New Roman"/>
                <a:ea typeface="+mn-lt"/>
                <a:cs typeface="+mn-lt"/>
              </a:rPr>
              <a:t>Expand PAT mapping:</a:t>
            </a:r>
            <a:endParaRPr lang="en-US" b="1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/>
            <a:r>
              <a:rPr lang="en-US">
                <a:latin typeface="Times New Roman"/>
                <a:ea typeface="+mn-lt"/>
                <a:cs typeface="+mn-lt"/>
              </a:rPr>
              <a:t>Classify PAT tools as inline / online / at-line / offline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/>
            <a:r>
              <a:rPr lang="en-US">
                <a:latin typeface="Times New Roman"/>
                <a:ea typeface="+mn-lt"/>
                <a:cs typeface="+mn-lt"/>
              </a:rPr>
              <a:t>Include sensors: pH, temperature, flow, pressure, particle size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/>
            <a:r>
              <a:rPr lang="en-US">
                <a:latin typeface="Times New Roman"/>
                <a:ea typeface="+mn-lt"/>
                <a:cs typeface="+mn-lt"/>
              </a:rPr>
              <a:t>Use patents &amp; research papers only as sources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4CB21-9885-7A84-15B8-383374FD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1975" y="6339067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9516-87CC-EF2A-8B26-6DE36C7AA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859" y="102258"/>
            <a:ext cx="9601200" cy="1142385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173F3-A37E-826A-F57D-34B449AC9528}"/>
              </a:ext>
            </a:extLst>
          </p:cNvPr>
          <p:cNvSpPr txBox="1"/>
          <p:nvPr/>
        </p:nvSpPr>
        <p:spPr>
          <a:xfrm>
            <a:off x="1068859" y="1327022"/>
            <a:ext cx="9601200" cy="49798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Times New Roman"/>
                <a:cs typeface="Times New Roman"/>
              </a:rPr>
              <a:t>M. J. Abrams </a:t>
            </a:r>
            <a:r>
              <a:rPr lang="en-US" sz="1600" i="1">
                <a:latin typeface="Times New Roman"/>
                <a:cs typeface="Times New Roman"/>
              </a:rPr>
              <a:t>et al.</a:t>
            </a:r>
            <a:r>
              <a:rPr lang="en-US" sz="1600">
                <a:latin typeface="Times New Roman"/>
                <a:cs typeface="Times New Roman"/>
              </a:rPr>
              <a:t>, "Compositions and methods for delivering messenger RNA," U.S. Patent 11,191,849, Dec. 7, 2021.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Times New Roman"/>
                <a:cs typeface="Times New Roman"/>
              </a:rPr>
              <a:t>S. Panzner </a:t>
            </a:r>
            <a:r>
              <a:rPr lang="en-US" sz="1600" i="1">
                <a:latin typeface="Times New Roman"/>
                <a:cs typeface="Times New Roman"/>
              </a:rPr>
              <a:t>et al.</a:t>
            </a:r>
            <a:r>
              <a:rPr lang="en-US" sz="1600">
                <a:latin typeface="Times New Roman"/>
                <a:cs typeface="Times New Roman"/>
              </a:rPr>
              <a:t>, "LNP compositions comprising RNA and methods for preparing, storing and using the same," U.S. Patent Application 2023/0414747 A1, Dec. 28,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Times New Roman"/>
                <a:cs typeface="Times New Roman"/>
              </a:rPr>
              <a:t>A. Tam </a:t>
            </a:r>
            <a:r>
              <a:rPr lang="en-US" sz="1600" i="1">
                <a:latin typeface="Times New Roman"/>
                <a:cs typeface="Times New Roman"/>
              </a:rPr>
              <a:t>et al.</a:t>
            </a:r>
            <a:r>
              <a:rPr lang="en-US" sz="1600">
                <a:latin typeface="Times New Roman"/>
                <a:cs typeface="Times New Roman"/>
              </a:rPr>
              <a:t>, "Lipid nanoparticle formulations for optimal RNA-based topical delivery to murine airways," </a:t>
            </a:r>
            <a:r>
              <a:rPr lang="en-US" sz="1600" i="1">
                <a:latin typeface="Times New Roman"/>
                <a:cs typeface="Times New Roman"/>
              </a:rPr>
              <a:t>Eur. J. Pharm. Sci.</a:t>
            </a:r>
            <a:r>
              <a:rPr lang="en-US" sz="1600">
                <a:latin typeface="Times New Roman"/>
                <a:cs typeface="Times New Roman"/>
              </a:rPr>
              <a:t>, vol. 176, p. 106234, Aug. 2022.</a:t>
            </a:r>
          </a:p>
          <a:p>
            <a:pPr marL="285750" indent="-28575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222222"/>
                </a:solidFill>
                <a:latin typeface="Times New Roman"/>
                <a:ea typeface="+mn-lt"/>
                <a:cs typeface="+mn-lt"/>
              </a:rPr>
              <a:t>A. S. Rathore, R. </a:t>
            </a:r>
            <a:r>
              <a:rPr lang="en-US" sz="1600" err="1">
                <a:solidFill>
                  <a:srgbClr val="222222"/>
                </a:solidFill>
                <a:latin typeface="Times New Roman"/>
                <a:ea typeface="+mn-lt"/>
                <a:cs typeface="+mn-lt"/>
              </a:rPr>
              <a:t>Bhambure</a:t>
            </a:r>
            <a:r>
              <a:rPr lang="en-US" sz="1600">
                <a:solidFill>
                  <a:srgbClr val="222222"/>
                </a:solidFill>
                <a:latin typeface="Times New Roman"/>
                <a:ea typeface="+mn-lt"/>
                <a:cs typeface="+mn-lt"/>
              </a:rPr>
              <a:t>, and V. Ghare, “Process analytical technology (PAT) for biopharmaceutical products,” </a:t>
            </a:r>
            <a:r>
              <a:rPr lang="en-US" sz="1600" i="1">
                <a:solidFill>
                  <a:srgbClr val="222222"/>
                </a:solidFill>
                <a:latin typeface="Times New Roman"/>
                <a:ea typeface="+mn-lt"/>
                <a:cs typeface="+mn-lt"/>
              </a:rPr>
              <a:t>Analytical and Bioanalytical Chemistry</a:t>
            </a:r>
            <a:r>
              <a:rPr lang="en-US" sz="1600">
                <a:solidFill>
                  <a:srgbClr val="222222"/>
                </a:solidFill>
                <a:latin typeface="Times New Roman"/>
                <a:ea typeface="+mn-lt"/>
                <a:cs typeface="+mn-lt"/>
              </a:rPr>
              <a:t>, vol. 398, pp. 137–154, 2010, </a:t>
            </a:r>
            <a:r>
              <a:rPr lang="en-US" sz="1600" err="1">
                <a:solidFill>
                  <a:srgbClr val="222222"/>
                </a:solidFill>
                <a:latin typeface="Times New Roman"/>
                <a:ea typeface="+mn-lt"/>
                <a:cs typeface="+mn-lt"/>
              </a:rPr>
              <a:t>doi</a:t>
            </a:r>
            <a:r>
              <a:rPr lang="en-US" sz="1600">
                <a:solidFill>
                  <a:srgbClr val="222222"/>
                </a:solidFill>
                <a:latin typeface="Times New Roman"/>
                <a:ea typeface="+mn-lt"/>
                <a:cs typeface="+mn-lt"/>
              </a:rPr>
              <a:t>: 10.1007/s00216-010-3781-x.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222222"/>
                </a:solidFill>
                <a:latin typeface="Times New Roman"/>
                <a:cs typeface="Times New Roman"/>
              </a:rPr>
              <a:t>A. Chanda et al., “Industry Perspectives on Process Analytical Technology: Tools and Applications in API Development,” </a:t>
            </a:r>
            <a:r>
              <a:rPr lang="en-US" sz="1600" i="1">
                <a:solidFill>
                  <a:srgbClr val="222222"/>
                </a:solidFill>
                <a:latin typeface="Times New Roman"/>
                <a:cs typeface="Times New Roman"/>
              </a:rPr>
              <a:t>Organic Process Research &amp; Development</a:t>
            </a:r>
            <a:r>
              <a:rPr lang="en-US" sz="1600">
                <a:solidFill>
                  <a:srgbClr val="222222"/>
                </a:solidFill>
                <a:latin typeface="Times New Roman"/>
                <a:cs typeface="Times New Roman"/>
              </a:rPr>
              <a:t>, vol. 19, pp. 63–83, 2015, doi:10.1021/op400358b.</a:t>
            </a:r>
          </a:p>
          <a:p>
            <a:pPr marL="285750" indent="-28575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2D2E2D"/>
                </a:solidFill>
                <a:latin typeface="Times New Roman"/>
                <a:cs typeface="Times New Roman"/>
              </a:rPr>
              <a:t>J. A. Kulkarni, D. </a:t>
            </a:r>
            <a:r>
              <a:rPr lang="en-US" sz="1600" err="1">
                <a:solidFill>
                  <a:srgbClr val="2D2E2D"/>
                </a:solidFill>
                <a:latin typeface="Times New Roman"/>
                <a:cs typeface="Times New Roman"/>
              </a:rPr>
              <a:t>Witzigmann</a:t>
            </a:r>
            <a:r>
              <a:rPr lang="en-US" sz="1600">
                <a:solidFill>
                  <a:srgbClr val="2D2E2D"/>
                </a:solidFill>
                <a:latin typeface="Times New Roman"/>
                <a:cs typeface="Times New Roman"/>
              </a:rPr>
              <a:t>, S. Chen, P. R. Cullis, and R. van der Meel,</a:t>
            </a:r>
            <a:b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>
                <a:solidFill>
                  <a:srgbClr val="2D2E2D"/>
                </a:solidFill>
                <a:latin typeface="Times New Roman"/>
                <a:cs typeface="Times New Roman"/>
              </a:rPr>
              <a:t> “On the role of helper lipids in lipid nanoparticle formulations of siRNA”, vol. 13, no. 3, pp. 203–213, Mar. 2018, </a:t>
            </a:r>
            <a:r>
              <a:rPr lang="en-US" sz="1600" err="1">
                <a:solidFill>
                  <a:srgbClr val="2D2E2D"/>
                </a:solidFill>
                <a:latin typeface="Times New Roman"/>
                <a:cs typeface="Times New Roman"/>
              </a:rPr>
              <a:t>doi</a:t>
            </a:r>
            <a:r>
              <a:rPr lang="en-US" sz="1600">
                <a:solidFill>
                  <a:srgbClr val="2D2E2D"/>
                </a:solidFill>
                <a:latin typeface="Times New Roman"/>
                <a:cs typeface="Times New Roman"/>
              </a:rPr>
              <a:t>: 10.1038/s41565-018-0039-3.</a:t>
            </a:r>
          </a:p>
          <a:p>
            <a:pPr marL="285750" indent="-28575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B9078-74C7-0E69-C3D6-D2BA88B85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240" y="6306847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5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2630E-F89E-C14C-7F0D-C5E73309A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13A23F-E8CA-DBB2-7CE9-021998869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859" y="951471"/>
            <a:ext cx="9601200" cy="3809999"/>
          </a:xfr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A43F27"/>
              </a:buClr>
            </a:pPr>
            <a:r>
              <a:rPr lang="en-US" sz="1600">
                <a:solidFill>
                  <a:srgbClr val="2D2E2D"/>
                </a:solidFill>
                <a:latin typeface="Times New Roman"/>
                <a:ea typeface="+mn-lt"/>
                <a:cs typeface="Times New Roman"/>
              </a:rPr>
              <a:t>J. Schoenmaker, E. </a:t>
            </a:r>
            <a:r>
              <a:rPr lang="en-US" sz="1600" err="1">
                <a:solidFill>
                  <a:srgbClr val="2D2E2D"/>
                </a:solidFill>
                <a:latin typeface="Times New Roman"/>
                <a:ea typeface="+mn-lt"/>
                <a:cs typeface="Times New Roman"/>
              </a:rPr>
              <a:t>Witzigmann</a:t>
            </a:r>
            <a:r>
              <a:rPr lang="en-US" sz="1600">
                <a:solidFill>
                  <a:srgbClr val="2D2E2D"/>
                </a:solidFill>
                <a:latin typeface="Times New Roman"/>
                <a:ea typeface="+mn-lt"/>
                <a:cs typeface="Times New Roman"/>
              </a:rPr>
              <a:t>, J. A. Kulkarni, R. van der Meel, and P. R. Cullis,</a:t>
            </a:r>
            <a:br>
              <a:rPr lang="en-US" sz="1600">
                <a:latin typeface="Times New Roman"/>
                <a:ea typeface="+mn-lt"/>
                <a:cs typeface="Times New Roman"/>
              </a:rPr>
            </a:br>
            <a:r>
              <a:rPr lang="en-US" sz="1600">
                <a:solidFill>
                  <a:srgbClr val="2D2E2D"/>
                </a:solidFill>
                <a:latin typeface="Times New Roman"/>
                <a:ea typeface="+mn-lt"/>
                <a:cs typeface="Times New Roman"/>
              </a:rPr>
              <a:t> “mRNA-lipid nanoparticle COVID-19 vaccines: Structure and stability,” </a:t>
            </a:r>
            <a:r>
              <a:rPr lang="en-US" sz="1600" i="1">
                <a:solidFill>
                  <a:srgbClr val="2D2E2D"/>
                </a:solidFill>
                <a:latin typeface="Times New Roman"/>
                <a:ea typeface="+mn-lt"/>
                <a:cs typeface="Times New Roman"/>
              </a:rPr>
              <a:t>International Journal of Pharmaceutics</a:t>
            </a:r>
            <a:r>
              <a:rPr lang="en-US" sz="1600">
                <a:solidFill>
                  <a:srgbClr val="2D2E2D"/>
                </a:solidFill>
                <a:latin typeface="Times New Roman"/>
                <a:ea typeface="+mn-lt"/>
                <a:cs typeface="Times New Roman"/>
              </a:rPr>
              <a:t>, vol. 601, art. no. 120586, Jun. 2021, </a:t>
            </a:r>
            <a:r>
              <a:rPr lang="en-US" sz="1600" err="1">
                <a:solidFill>
                  <a:srgbClr val="2D2E2D"/>
                </a:solidFill>
                <a:latin typeface="Times New Roman"/>
                <a:ea typeface="+mn-lt"/>
                <a:cs typeface="Times New Roman"/>
              </a:rPr>
              <a:t>doi</a:t>
            </a:r>
            <a:r>
              <a:rPr lang="en-US" sz="1600">
                <a:solidFill>
                  <a:srgbClr val="2D2E2D"/>
                </a:solidFill>
                <a:latin typeface="Times New Roman"/>
                <a:ea typeface="+mn-lt"/>
                <a:cs typeface="Times New Roman"/>
              </a:rPr>
              <a:t>: 10.1016/j.ijpharm.2021.120586.</a:t>
            </a:r>
            <a:endParaRPr lang="en-US" sz="1600">
              <a:solidFill>
                <a:srgbClr val="2D2E2D"/>
              </a:solidFill>
              <a:latin typeface="Times New Roman"/>
              <a:ea typeface="+mn-lt"/>
              <a:cs typeface="+mn-lt"/>
            </a:endParaRPr>
          </a:p>
          <a:p>
            <a:pPr>
              <a:buClr>
                <a:srgbClr val="A43F27"/>
              </a:buClr>
            </a:pPr>
            <a:r>
              <a:rPr lang="en-US" sz="1600">
                <a:solidFill>
                  <a:srgbClr val="2D2E2D"/>
                </a:solidFill>
                <a:latin typeface="Times New Roman"/>
                <a:ea typeface="+mn-lt"/>
                <a:cs typeface="+mn-lt"/>
              </a:rPr>
              <a:t>X. Hou, T. Zaks, R. Langer, and Y. Dong, “Lipid nanoparticles for mRNA delivery,” </a:t>
            </a:r>
            <a:r>
              <a:rPr lang="en-US" sz="1600" i="1">
                <a:solidFill>
                  <a:srgbClr val="2D2E2D"/>
                </a:solidFill>
                <a:latin typeface="Times New Roman"/>
                <a:ea typeface="+mn-lt"/>
                <a:cs typeface="+mn-lt"/>
              </a:rPr>
              <a:t>Nature Reviews Materials</a:t>
            </a:r>
            <a:r>
              <a:rPr lang="en-US" sz="1600">
                <a:solidFill>
                  <a:srgbClr val="2D2E2D"/>
                </a:solidFill>
                <a:latin typeface="Times New Roman"/>
                <a:ea typeface="+mn-lt"/>
                <a:cs typeface="+mn-lt"/>
              </a:rPr>
              <a:t>, vol. 6, no. 12, pp. 1078–1094, Dec. 2021, </a:t>
            </a:r>
            <a:r>
              <a:rPr lang="en-US" sz="1600" err="1">
                <a:solidFill>
                  <a:srgbClr val="2D2E2D"/>
                </a:solidFill>
                <a:latin typeface="Times New Roman"/>
                <a:ea typeface="+mn-lt"/>
                <a:cs typeface="+mn-lt"/>
              </a:rPr>
              <a:t>doi</a:t>
            </a:r>
            <a:r>
              <a:rPr lang="en-US" sz="1600">
                <a:solidFill>
                  <a:srgbClr val="2D2E2D"/>
                </a:solidFill>
                <a:latin typeface="Times New Roman"/>
                <a:ea typeface="+mn-lt"/>
                <a:cs typeface="+mn-lt"/>
              </a:rPr>
              <a:t>: 10.1038/s41578-021-00358-0.</a:t>
            </a:r>
          </a:p>
          <a:p>
            <a:pPr>
              <a:buClr>
                <a:srgbClr val="A43F27"/>
              </a:buClr>
            </a:pPr>
            <a:r>
              <a:rPr lang="en-US" sz="1600">
                <a:solidFill>
                  <a:srgbClr val="2D2E2D"/>
                </a:solidFill>
                <a:latin typeface="Times New Roman"/>
                <a:ea typeface="+mn-lt"/>
                <a:cs typeface="+mn-lt"/>
              </a:rPr>
              <a:t>S. Chen, Y. Y. C. Tam, P. J. C. Lin, A. K. K. Leung, and P. R. Cullis, “Development of lipid nanoparticle formulations of siRNA for hepatocyte gene silencing following subcutaneous administration,” </a:t>
            </a:r>
            <a:r>
              <a:rPr lang="en-US" sz="1600" i="1">
                <a:solidFill>
                  <a:srgbClr val="2D2E2D"/>
                </a:solidFill>
                <a:latin typeface="Times New Roman"/>
                <a:ea typeface="+mn-lt"/>
                <a:cs typeface="+mn-lt"/>
              </a:rPr>
              <a:t>Organic Process Research &amp; Development</a:t>
            </a:r>
            <a:r>
              <a:rPr lang="en-US" sz="1600">
                <a:solidFill>
                  <a:srgbClr val="2D2E2D"/>
                </a:solidFill>
                <a:latin typeface="Times New Roman"/>
                <a:ea typeface="+mn-lt"/>
                <a:cs typeface="+mn-lt"/>
              </a:rPr>
              <a:t>, vol. 18, no. 3, pp. 491–497, 2014, </a:t>
            </a:r>
            <a:r>
              <a:rPr lang="en-US" sz="1600" err="1">
                <a:solidFill>
                  <a:srgbClr val="2D2E2D"/>
                </a:solidFill>
                <a:latin typeface="Times New Roman"/>
                <a:ea typeface="+mn-lt"/>
                <a:cs typeface="+mn-lt"/>
              </a:rPr>
              <a:t>doi</a:t>
            </a:r>
            <a:r>
              <a:rPr lang="en-US" sz="1600">
                <a:solidFill>
                  <a:srgbClr val="2D2E2D"/>
                </a:solidFill>
                <a:latin typeface="Times New Roman"/>
                <a:ea typeface="+mn-lt"/>
                <a:cs typeface="+mn-lt"/>
              </a:rPr>
              <a:t>: 10.1021/op400358b.</a:t>
            </a:r>
            <a:endParaRPr lang="en-US" sz="1600">
              <a:solidFill>
                <a:srgbClr val="2D2E2D"/>
              </a:solidFill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US" sz="1600">
                <a:solidFill>
                  <a:srgbClr val="2D2E2D"/>
                </a:solidFill>
                <a:latin typeface="Times New Roman"/>
                <a:cs typeface="Arial"/>
              </a:rPr>
              <a:t>Links:</a:t>
            </a:r>
            <a:br>
              <a:rPr lang="en-US" sz="1600">
                <a:latin typeface="Times New Roman"/>
                <a:cs typeface="Arial"/>
              </a:rPr>
            </a:br>
            <a:r>
              <a:rPr lang="en-US" sz="1600">
                <a:latin typeface="Times New Roman"/>
                <a:ea typeface="+mn-lt"/>
                <a:cs typeface="+mn-lt"/>
                <a:hlinkClick r:id="rId2"/>
              </a:rPr>
              <a:t>https://insidetx.com/resources/reviews/lnp-synthesis-overview-of-the-manufacturing-methods/</a:t>
            </a:r>
            <a:b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</a:br>
            <a:r>
              <a:rPr lang="en-US" sz="1600">
                <a:solidFill>
                  <a:srgbClr val="222222"/>
                </a:solidFill>
                <a:latin typeface="Times New Roman"/>
                <a:cs typeface="Times New Roman"/>
                <a:hlinkClick r:id="rId2"/>
              </a:rPr>
              <a:t>https://drive.google.com/drive/folders/10AyL6bArZ2kjxkyHl5krHhYheAy40hMO?usp=drive_link</a:t>
            </a:r>
            <a:endParaRPr lang="en-US" sz="1600">
              <a:solidFill>
                <a:srgbClr val="000000"/>
              </a:solidFill>
              <a:latin typeface="Corbel"/>
              <a:cs typeface="Arial"/>
            </a:endParaRPr>
          </a:p>
          <a:p>
            <a:pPr>
              <a:buClr>
                <a:srgbClr val="A43F27"/>
              </a:buClr>
            </a:pPr>
            <a:endParaRPr lang="en-US" sz="1600">
              <a:solidFill>
                <a:srgbClr val="222222"/>
              </a:solidFill>
              <a:highlight>
                <a:srgbClr val="FFFFFF"/>
              </a:highlight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endParaRPr lang="en-US" sz="1600">
              <a:solidFill>
                <a:srgbClr val="222222"/>
              </a:solidFill>
              <a:highlight>
                <a:srgbClr val="FFFFFF"/>
              </a:highlight>
              <a:latin typeface="Times New Roman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32E94-478A-4D96-ADF9-963CACB64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1736" y="6360877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2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1E091-C8F4-9F76-DE40-891347D4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E1DFEA-D509-790D-0E73-F33DA43F0BB8}"/>
              </a:ext>
            </a:extLst>
          </p:cNvPr>
          <p:cNvSpPr txBox="1"/>
          <p:nvPr/>
        </p:nvSpPr>
        <p:spPr>
          <a:xfrm>
            <a:off x="3391787" y="2595271"/>
            <a:ext cx="575616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>
                <a:latin typeface="Times New Roman"/>
                <a:cs typeface="Arial"/>
              </a:rPr>
              <a:t>THANK YOU!!!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B9299-41F4-A6FD-0298-CB97DB4BE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1735" y="6346844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7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5EA0C708F7D24D8BB5459235250176" ma:contentTypeVersion="12" ma:contentTypeDescription="Create a new document." ma:contentTypeScope="" ma:versionID="8f623ed4714237034e528719a521e1af">
  <xsd:schema xmlns:xsd="http://www.w3.org/2001/XMLSchema" xmlns:xs="http://www.w3.org/2001/XMLSchema" xmlns:p="http://schemas.microsoft.com/office/2006/metadata/properties" xmlns:ns3="9c60d9f0-b125-43ca-ac8c-70ac0f3d154a" targetNamespace="http://schemas.microsoft.com/office/2006/metadata/properties" ma:root="true" ma:fieldsID="831e479f0b6084ec95c5107a0c212679" ns3:_="">
    <xsd:import namespace="9c60d9f0-b125-43ca-ac8c-70ac0f3d154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60d9f0-b125-43ca-ac8c-70ac0f3d154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60d9f0-b125-43ca-ac8c-70ac0f3d154a" xsi:nil="true"/>
  </documentManagement>
</p:properties>
</file>

<file path=customXml/itemProps1.xml><?xml version="1.0" encoding="utf-8"?>
<ds:datastoreItem xmlns:ds="http://schemas.openxmlformats.org/officeDocument/2006/customXml" ds:itemID="{227DFBF4-1786-4346-81E1-94BBCF30019A}">
  <ds:schemaRefs>
    <ds:schemaRef ds:uri="9c60d9f0-b125-43ca-ac8c-70ac0f3d15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FF820B7-010F-493E-A205-8213A38E64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9D48E2-011B-40BF-9C7D-3209711CD824}">
  <ds:schemaRefs>
    <ds:schemaRef ds:uri="9c60d9f0-b125-43ca-ac8c-70ac0f3d154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1451</Words>
  <Application>Microsoft Office PowerPoint</Application>
  <PresentationFormat>Widescreen</PresentationFormat>
  <Paragraphs>140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Corbel</vt:lpstr>
      <vt:lpstr>Times New Roman</vt:lpstr>
      <vt:lpstr>Wingdings</vt:lpstr>
      <vt:lpstr>Parallax</vt:lpstr>
      <vt:lpstr>PowerPoint Presentation</vt:lpstr>
      <vt:lpstr>Objective of the Project</vt:lpstr>
      <vt:lpstr>LNPs and their Composition</vt:lpstr>
      <vt:lpstr>PowerPoint Presentation</vt:lpstr>
      <vt:lpstr>Feed Composition &amp; Ratios</vt:lpstr>
      <vt:lpstr>Design Space</vt:lpstr>
      <vt:lpstr>Mixing Technologies</vt:lpstr>
      <vt:lpstr>Downstream Processing</vt:lpstr>
      <vt:lpstr>Process Analytical Technology(PAT)   </vt:lpstr>
      <vt:lpstr>Some analytical techniques used in PAT</vt:lpstr>
      <vt:lpstr>PAT Measurement Level</vt:lpstr>
      <vt:lpstr>What Next: Process &amp; Technology Development</vt:lpstr>
      <vt:lpstr>Data Catalogue, PAT &amp; Code Prep</vt:lpstr>
      <vt:lpstr>Resources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Rhythem Soni 24110296</dc:creator>
  <cp:lastModifiedBy>Saket Jonwal</cp:lastModifiedBy>
  <cp:revision>16</cp:revision>
  <dcterms:created xsi:type="dcterms:W3CDTF">2026-02-13T12:32:43Z</dcterms:created>
  <dcterms:modified xsi:type="dcterms:W3CDTF">2026-02-14T20:39:18Z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0x010100A75EA0C708F7D24D8BB5459235250176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